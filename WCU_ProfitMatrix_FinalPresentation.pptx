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97" r:id="rId3"/>
    <p:sldId id="302" r:id="rId4"/>
    <p:sldId id="257" r:id="rId5"/>
    <p:sldId id="301" r:id="rId6"/>
    <p:sldId id="259" r:id="rId7"/>
    <p:sldId id="268" r:id="rId8"/>
    <p:sldId id="270" r:id="rId9"/>
    <p:sldId id="291" r:id="rId10"/>
    <p:sldId id="293" r:id="rId11"/>
    <p:sldId id="292" r:id="rId12"/>
    <p:sldId id="294" r:id="rId13"/>
    <p:sldId id="276" r:id="rId14"/>
    <p:sldId id="295" r:id="rId15"/>
    <p:sldId id="281" r:id="rId16"/>
    <p:sldId id="300" r:id="rId17"/>
    <p:sldId id="303" r:id="rId18"/>
    <p:sldId id="296" r:id="rId19"/>
    <p:sldId id="26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10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gan Yates" userId="a15f08990d6d30b0" providerId="LiveId" clId="{F28DF2AA-B822-40CA-8D15-EFFA299413DC}"/>
    <pc:docChg chg="undo custSel delSld modSld sldOrd">
      <pc:chgData name="Logan Yates" userId="a15f08990d6d30b0" providerId="LiveId" clId="{F28DF2AA-B822-40CA-8D15-EFFA299413DC}" dt="2026-07-31T01:08:14.039" v="295" actId="1076"/>
      <pc:docMkLst>
        <pc:docMk/>
      </pc:docMkLst>
      <pc:sldChg chg="delSp modSp mod">
        <pc:chgData name="Logan Yates" userId="a15f08990d6d30b0" providerId="LiveId" clId="{F28DF2AA-B822-40CA-8D15-EFFA299413DC}" dt="2026-07-31T01:08:14.039" v="295" actId="1076"/>
        <pc:sldMkLst>
          <pc:docMk/>
          <pc:sldMk cId="1708576867" sldId="302"/>
        </pc:sldMkLst>
        <pc:spChg chg="del">
          <ac:chgData name="Logan Yates" userId="a15f08990d6d30b0" providerId="LiveId" clId="{F28DF2AA-B822-40CA-8D15-EFFA299413DC}" dt="2026-07-31T01:08:03.288" v="292" actId="478"/>
          <ac:spMkLst>
            <pc:docMk/>
            <pc:sldMk cId="1708576867" sldId="302"/>
            <ac:spMk id="5" creationId="{00000000-0000-0000-0000-000000000000}"/>
          </ac:spMkLst>
        </pc:spChg>
        <pc:spChg chg="del">
          <ac:chgData name="Logan Yates" userId="a15f08990d6d30b0" providerId="LiveId" clId="{F28DF2AA-B822-40CA-8D15-EFFA299413DC}" dt="2026-07-31T01:08:08.751" v="294" actId="478"/>
          <ac:spMkLst>
            <pc:docMk/>
            <pc:sldMk cId="1708576867" sldId="302"/>
            <ac:spMk id="6" creationId="{00000000-0000-0000-0000-000000000000}"/>
          </ac:spMkLst>
        </pc:spChg>
        <pc:spChg chg="del">
          <ac:chgData name="Logan Yates" userId="a15f08990d6d30b0" providerId="LiveId" clId="{F28DF2AA-B822-40CA-8D15-EFFA299413DC}" dt="2026-07-31T01:08:06.615" v="293" actId="478"/>
          <ac:spMkLst>
            <pc:docMk/>
            <pc:sldMk cId="1708576867" sldId="302"/>
            <ac:spMk id="8" creationId="{00000000-0000-0000-0000-000000000000}"/>
          </ac:spMkLst>
        </pc:spChg>
        <pc:spChg chg="mod">
          <ac:chgData name="Logan Yates" userId="a15f08990d6d30b0" providerId="LiveId" clId="{F28DF2AA-B822-40CA-8D15-EFFA299413DC}" dt="2026-07-31T01:08:14.039" v="295" actId="1076"/>
          <ac:spMkLst>
            <pc:docMk/>
            <pc:sldMk cId="1708576867" sldId="302"/>
            <ac:spMk id="9" creationId="{00000000-0000-0000-0000-000000000000}"/>
          </ac:spMkLst>
        </pc:spChg>
        <pc:spChg chg="mod">
          <ac:chgData name="Logan Yates" userId="a15f08990d6d30b0" providerId="LiveId" clId="{F28DF2AA-B822-40CA-8D15-EFFA299413DC}" dt="2026-07-31T01:08:14.039" v="295" actId="1076"/>
          <ac:spMkLst>
            <pc:docMk/>
            <pc:sldMk cId="1708576867" sldId="302"/>
            <ac:spMk id="10" creationId="{00000000-0000-0000-0000-000000000000}"/>
          </ac:spMkLst>
        </pc:spChg>
        <pc:spChg chg="mod">
          <ac:chgData name="Logan Yates" userId="a15f08990d6d30b0" providerId="LiveId" clId="{F28DF2AA-B822-40CA-8D15-EFFA299413DC}" dt="2026-07-31T01:08:14.039" v="295" actId="1076"/>
          <ac:spMkLst>
            <pc:docMk/>
            <pc:sldMk cId="1708576867" sldId="302"/>
            <ac:spMk id="11" creationId="{00000000-0000-0000-0000-000000000000}"/>
          </ac:spMkLst>
        </pc:spChg>
        <pc:spChg chg="mod">
          <ac:chgData name="Logan Yates" userId="a15f08990d6d30b0" providerId="LiveId" clId="{F28DF2AA-B822-40CA-8D15-EFFA299413DC}" dt="2026-07-31T01:08:14.039" v="295" actId="1076"/>
          <ac:spMkLst>
            <pc:docMk/>
            <pc:sldMk cId="1708576867" sldId="302"/>
            <ac:spMk id="13" creationId="{00000000-0000-0000-0000-000000000000}"/>
          </ac:spMkLst>
        </pc:spChg>
        <pc:spChg chg="mod">
          <ac:chgData name="Logan Yates" userId="a15f08990d6d30b0" providerId="LiveId" clId="{F28DF2AA-B822-40CA-8D15-EFFA299413DC}" dt="2026-07-31T01:08:14.039" v="295" actId="1076"/>
          <ac:spMkLst>
            <pc:docMk/>
            <pc:sldMk cId="1708576867" sldId="302"/>
            <ac:spMk id="15" creationId="{00000000-0000-0000-0000-000000000000}"/>
          </ac:spMkLst>
        </pc:spChg>
        <pc:spChg chg="mod">
          <ac:chgData name="Logan Yates" userId="a15f08990d6d30b0" providerId="LiveId" clId="{F28DF2AA-B822-40CA-8D15-EFFA299413DC}" dt="2026-07-31T01:08:14.039" v="295" actId="1076"/>
          <ac:spMkLst>
            <pc:docMk/>
            <pc:sldMk cId="1708576867" sldId="302"/>
            <ac:spMk id="17" creationId="{00000000-0000-0000-0000-000000000000}"/>
          </ac:spMkLst>
        </pc:spChg>
        <pc:spChg chg="mod">
          <ac:chgData name="Logan Yates" userId="a15f08990d6d30b0" providerId="LiveId" clId="{F28DF2AA-B822-40CA-8D15-EFFA299413DC}" dt="2026-07-31T01:08:14.039" v="295" actId="1076"/>
          <ac:spMkLst>
            <pc:docMk/>
            <pc:sldMk cId="1708576867" sldId="302"/>
            <ac:spMk id="19" creationId="{00000000-0000-0000-0000-000000000000}"/>
          </ac:spMkLst>
        </pc:spChg>
        <pc:picChg chg="mod">
          <ac:chgData name="Logan Yates" userId="a15f08990d6d30b0" providerId="LiveId" clId="{F28DF2AA-B822-40CA-8D15-EFFA299413DC}" dt="2026-07-31T01:08:14.039" v="295" actId="1076"/>
          <ac:picMkLst>
            <pc:docMk/>
            <pc:sldMk cId="1708576867" sldId="302"/>
            <ac:picMk id="12" creationId="{00000000-0000-0000-0000-000000000000}"/>
          </ac:picMkLst>
        </pc:picChg>
        <pc:picChg chg="mod">
          <ac:chgData name="Logan Yates" userId="a15f08990d6d30b0" providerId="LiveId" clId="{F28DF2AA-B822-40CA-8D15-EFFA299413DC}" dt="2026-07-31T01:08:14.039" v="295" actId="1076"/>
          <ac:picMkLst>
            <pc:docMk/>
            <pc:sldMk cId="1708576867" sldId="302"/>
            <ac:picMk id="14" creationId="{00000000-0000-0000-0000-000000000000}"/>
          </ac:picMkLst>
        </pc:picChg>
        <pc:picChg chg="mod">
          <ac:chgData name="Logan Yates" userId="a15f08990d6d30b0" providerId="LiveId" clId="{F28DF2AA-B822-40CA-8D15-EFFA299413DC}" dt="2026-07-31T01:08:14.039" v="295" actId="1076"/>
          <ac:picMkLst>
            <pc:docMk/>
            <pc:sldMk cId="1708576867" sldId="302"/>
            <ac:picMk id="18" creationId="{00000000-0000-0000-0000-000000000000}"/>
          </ac:picMkLst>
        </pc:picChg>
        <pc:picChg chg="del">
          <ac:chgData name="Logan Yates" userId="a15f08990d6d30b0" providerId="LiveId" clId="{F28DF2AA-B822-40CA-8D15-EFFA299413DC}" dt="2026-07-31T01:07:59.180" v="291" actId="478"/>
          <ac:picMkLst>
            <pc:docMk/>
            <pc:sldMk cId="1708576867" sldId="302"/>
            <ac:picMk id="21" creationId="{32AAAE95-D261-48A9-6F82-A866F736CE9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29235D5-724F-4182-9C34-B9A5DDF0B5FE}" type="datetimeFigureOut">
              <a:t>7/30/2026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9377718B-4F0A-4127-B0FE-3E4C1ECFB1EF}" type="slidenum">
              <a:t>‹#›</a:t>
            </a:fld>
            <a:endParaRPr lang="en-US"/>
          </a:p>
        </p:txBody>
      </p:sp>
    </p:spTree>
    <p:extLst>
      <p:ext uri="{BB962C8B-B14F-4D97-AF65-F5344CB8AC3E}">
        <p14:creationId xmlns:p14="http://schemas.microsoft.com/office/powerpoint/2010/main" val="428087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BA112-606F-3B2D-AB7E-88CFE52AF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F8366-F32A-C6E3-CA8C-D07B7EAED0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45708-E80A-8DA5-9535-269716A45D5B}"/>
              </a:ext>
            </a:extLst>
          </p:cNvPr>
          <p:cNvSpPr>
            <a:spLocks noGrp="1"/>
          </p:cNvSpPr>
          <p:nvPr>
            <p:ph type="body" idx="1"/>
          </p:nvPr>
        </p:nvSpPr>
        <p:spPr/>
        <p:txBody>
          <a:bodyPr/>
          <a:lstStyle/>
          <a:p>
            <a:r>
              <a:rPr lang="en-US">
                <a:ea typeface="Calibri"/>
                <a:cs typeface="Calibri"/>
              </a:rPr>
              <a:t>For the cluster model of our project, it takes advantage of two components. Manual segmentation is  when you take the entirety of your data and split it into separate quadrants. In this example </a:t>
            </a:r>
            <a:r>
              <a:rPr lang="en-US" err="1">
                <a:ea typeface="Calibri"/>
                <a:cs typeface="Calibri"/>
              </a:rPr>
              <a:t>its</a:t>
            </a:r>
            <a:r>
              <a:rPr lang="en-US">
                <a:ea typeface="Calibri"/>
                <a:cs typeface="Calibri"/>
              </a:rPr>
              <a:t> easy to understand, anything above 50% is high, anything under is low, so in the </a:t>
            </a:r>
            <a:r>
              <a:rPr lang="en-US" err="1">
                <a:ea typeface="Calibri"/>
                <a:cs typeface="Calibri"/>
              </a:rPr>
              <a:t>botoom</a:t>
            </a:r>
            <a:r>
              <a:rPr lang="en-US">
                <a:ea typeface="Calibri"/>
                <a:cs typeface="Calibri"/>
              </a:rPr>
              <a:t> right corner it would represent high </a:t>
            </a:r>
            <a:r>
              <a:rPr lang="en-US" err="1">
                <a:ea typeface="Calibri"/>
                <a:cs typeface="Calibri"/>
              </a:rPr>
              <a:t>frequencey</a:t>
            </a:r>
            <a:r>
              <a:rPr lang="en-US">
                <a:ea typeface="Calibri"/>
                <a:cs typeface="Calibri"/>
              </a:rPr>
              <a:t> of purchase but a low value of product.</a:t>
            </a:r>
          </a:p>
        </p:txBody>
      </p:sp>
      <p:sp>
        <p:nvSpPr>
          <p:cNvPr id="4" name="Slide Number Placeholder 3">
            <a:extLst>
              <a:ext uri="{FF2B5EF4-FFF2-40B4-BE49-F238E27FC236}">
                <a16:creationId xmlns:a16="http://schemas.microsoft.com/office/drawing/2014/main" id="{2D52C7D4-436C-A42E-EDF6-FDA2CB512AE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823165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CF0CB-A40A-EDD6-A845-141CC8FED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40338-9713-C088-CE06-F515EC9F9E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1B42D-F427-E05A-D070-E26B6F32152D}"/>
              </a:ext>
            </a:extLst>
          </p:cNvPr>
          <p:cNvSpPr>
            <a:spLocks noGrp="1"/>
          </p:cNvSpPr>
          <p:nvPr>
            <p:ph type="body" idx="1"/>
          </p:nvPr>
        </p:nvSpPr>
        <p:spPr/>
        <p:txBody>
          <a:bodyPr/>
          <a:lstStyle/>
          <a:p>
            <a:r>
              <a:rPr lang="en-US"/>
              <a:t>The second component is clustering </a:t>
            </a:r>
            <a:r>
              <a:rPr lang="en-US" err="1"/>
              <a:t>where</a:t>
            </a:r>
            <a:r>
              <a:rPr lang="en-US"/>
              <a:t> you group the data based on their similarity and proximity. When working with a bunch of data, </a:t>
            </a:r>
            <a:r>
              <a:rPr lang="en-US" err="1"/>
              <a:t>its</a:t>
            </a:r>
            <a:r>
              <a:rPr lang="en-US"/>
              <a:t> very hard to spot any patterns but with the model, it can detect and group the information based on the data that you have provided for it.</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F13C7D7F-EAC4-C0E3-B327-81DD9715EB4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30061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1EA8-D81B-3693-AE57-A3ABB1B18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ED050-DBB0-9F27-59AD-6089C5980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D81067-1AD4-3E80-1746-4CA00B265408}"/>
              </a:ext>
            </a:extLst>
          </p:cNvPr>
          <p:cNvSpPr>
            <a:spLocks noGrp="1"/>
          </p:cNvSpPr>
          <p:nvPr>
            <p:ph type="body" idx="1"/>
          </p:nvPr>
        </p:nvSpPr>
        <p:spPr/>
        <p:txBody>
          <a:bodyPr/>
          <a:lstStyle/>
          <a:p>
            <a:endParaRPr lang="en-US">
              <a:ea typeface="Calibri"/>
              <a:cs typeface="Calibri"/>
            </a:endParaRPr>
          </a:p>
          <a:p>
            <a:r>
              <a:rPr lang="en-US" err="1">
                <a:ea typeface="Calibri"/>
                <a:cs typeface="Calibri"/>
              </a:rPr>
              <a:t>So</a:t>
            </a:r>
            <a:r>
              <a:rPr lang="en-US">
                <a:ea typeface="Calibri"/>
                <a:cs typeface="Calibri"/>
              </a:rPr>
              <a:t> what you see right here is what I sale </a:t>
            </a:r>
            <a:r>
              <a:rPr lang="en-US" err="1">
                <a:ea typeface="Calibri"/>
                <a:cs typeface="Calibri"/>
              </a:rPr>
              <a:t>analst</a:t>
            </a:r>
            <a:r>
              <a:rPr lang="en-US">
                <a:ea typeface="Calibri"/>
                <a:cs typeface="Calibri"/>
              </a:rPr>
              <a:t> tend to work with. They would take your company raw data and transform it into a sales report that tells you actionable steps that you can take to improve your business. But the problem is that the small and medium size businesses that we catering to would not be able to afford a good 6 figure analyst. And at the same time, I don’t think anyone would want to go through hundreds of line of data to figure out what is wrong with their business. And </a:t>
            </a:r>
            <a:r>
              <a:rPr lang="en-US" err="1">
                <a:ea typeface="Calibri"/>
                <a:cs typeface="Calibri"/>
              </a:rPr>
              <a:t>so</a:t>
            </a:r>
            <a:r>
              <a:rPr lang="en-US">
                <a:ea typeface="Calibri"/>
                <a:cs typeface="Calibri"/>
              </a:rPr>
              <a:t> what our model would do is to take all of this data, and combine both the manual segmentation and clustering and transform it</a:t>
            </a:r>
          </a:p>
          <a:p>
            <a:endParaRPr lang="en-US">
              <a:ea typeface="Calibri"/>
              <a:cs typeface="Calibri"/>
            </a:endParaRPr>
          </a:p>
        </p:txBody>
      </p:sp>
      <p:sp>
        <p:nvSpPr>
          <p:cNvPr id="4" name="Slide Number Placeholder 3">
            <a:extLst>
              <a:ext uri="{FF2B5EF4-FFF2-40B4-BE49-F238E27FC236}">
                <a16:creationId xmlns:a16="http://schemas.microsoft.com/office/drawing/2014/main" id="{02A0CF7E-09CD-3998-F034-8C32C8677A6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08433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3C4B1-8AEC-14B7-2E29-409B2CC82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3D16E-077C-C844-E051-A76981E3A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B8643-166F-D401-ACC3-A764949F08ED}"/>
              </a:ext>
            </a:extLst>
          </p:cNvPr>
          <p:cNvSpPr>
            <a:spLocks noGrp="1"/>
          </p:cNvSpPr>
          <p:nvPr>
            <p:ph type="body" idx="1"/>
          </p:nvPr>
        </p:nvSpPr>
        <p:spPr/>
        <p:txBody>
          <a:bodyPr/>
          <a:lstStyle/>
          <a:p>
            <a:r>
              <a:rPr lang="en-US">
                <a:ea typeface="Calibri"/>
                <a:cs typeface="Calibri"/>
              </a:rPr>
              <a:t>To get something called Clustering Segmentation, something more readable, understandable, and easier to digest. So now you can get a good representation of your company data that </a:t>
            </a:r>
            <a:r>
              <a:rPr lang="en-US" err="1">
                <a:ea typeface="Calibri"/>
                <a:cs typeface="Calibri"/>
              </a:rPr>
              <a:t>isnt</a:t>
            </a:r>
            <a:r>
              <a:rPr lang="en-US">
                <a:ea typeface="Calibri"/>
                <a:cs typeface="Calibri"/>
              </a:rPr>
              <a:t> just split into highs and lows category.</a:t>
            </a:r>
          </a:p>
        </p:txBody>
      </p:sp>
      <p:sp>
        <p:nvSpPr>
          <p:cNvPr id="4" name="Slide Number Placeholder 3">
            <a:extLst>
              <a:ext uri="{FF2B5EF4-FFF2-40B4-BE49-F238E27FC236}">
                <a16:creationId xmlns:a16="http://schemas.microsoft.com/office/drawing/2014/main" id="{E9B039FC-9569-D4DB-31CA-209C4155E0E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37311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51133-4564-2C18-5717-A7D5BF858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520A8-DB09-2559-A3B2-0EA80045F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FCBBD-6604-0E36-BB7F-A2311062BC9D}"/>
              </a:ext>
            </a:extLst>
          </p:cNvPr>
          <p:cNvSpPr>
            <a:spLocks noGrp="1"/>
          </p:cNvSpPr>
          <p:nvPr>
            <p:ph type="body" idx="1"/>
          </p:nvPr>
        </p:nvSpPr>
        <p:spPr/>
        <p:txBody>
          <a:bodyPr/>
          <a:lstStyle/>
          <a:p>
            <a:r>
              <a:rPr lang="en-US"/>
              <a:t>Afterward we convert the information into a simple UI design that even a non-technical user can interpret where you can see any accounts that you should grow, defend, fix, and optimize. The model even give actionable insights on what you can take advantage currently.</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576E2B73-32F1-22DB-732D-4714896BF91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92399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8EA97-72C3-9BDD-73A1-2763232BE9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BD0B3-6ABC-F7CF-1C1A-E0B4618A8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EE1A08-388F-6F68-3D0B-42236AF93A82}"/>
              </a:ext>
            </a:extLst>
          </p:cNvPr>
          <p:cNvSpPr>
            <a:spLocks noGrp="1"/>
          </p:cNvSpPr>
          <p:nvPr>
            <p:ph type="body" idx="1"/>
          </p:nvPr>
        </p:nvSpPr>
        <p:spPr/>
        <p:txBody>
          <a:bodyPr/>
          <a:lstStyle/>
          <a:p>
            <a:r>
              <a:rPr lang="en-US"/>
              <a:t>If you think that you would need a more </a:t>
            </a:r>
            <a:r>
              <a:rPr lang="en-US" err="1"/>
              <a:t>indepth</a:t>
            </a:r>
            <a:r>
              <a:rPr lang="en-US"/>
              <a:t> guide into what you are looking into, you can simply click on the card, and it will display an even more detailed page of what you were looking at.</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1DDD5FAF-8961-919E-0CD8-9F68C521EC9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84504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341E1-1DC5-B15C-941E-692E193E68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CA355-FDD5-DF06-722E-173627B5C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C6929-F913-60E1-EC4E-98B882E26924}"/>
              </a:ext>
            </a:extLst>
          </p:cNvPr>
          <p:cNvSpPr>
            <a:spLocks noGrp="1"/>
          </p:cNvSpPr>
          <p:nvPr>
            <p:ph type="body" idx="1"/>
          </p:nvPr>
        </p:nvSpPr>
        <p:spPr/>
        <p:txBody>
          <a:bodyPr/>
          <a:lstStyle/>
          <a:p>
            <a:r>
              <a:rPr lang="en-US"/>
              <a:t>Here is a more complex version of what you just saw, which is closer to what you are more likely to experience in real life.</a:t>
            </a:r>
            <a:br>
              <a:rPr lang="en-US">
                <a:cs typeface="+mn-lt"/>
              </a:rPr>
            </a:br>
            <a:r>
              <a:rPr lang="en-US"/>
              <a:t>In many cases, the data would be even more complicated, where it would look just like a pile of dots with no clear pattern.</a:t>
            </a:r>
          </a:p>
          <a:p>
            <a:r>
              <a:rPr lang="en-US"/>
              <a:t>The job of the clustering model is to interpret this data and group them based on the similarities, so we can understand the information better and actually see patterns that aren’t obvious at first.</a:t>
            </a:r>
            <a:endParaRPr lang="en-US">
              <a:ea typeface="Calibri"/>
              <a:cs typeface="Calibri"/>
            </a:endParaRPr>
          </a:p>
          <a:p>
            <a:endParaRPr lang="en-US">
              <a:ea typeface="Calibri"/>
              <a:cs typeface="Calibri"/>
            </a:endParaRPr>
          </a:p>
          <a:p>
            <a:r>
              <a:rPr lang="en-US"/>
              <a:t>And By doing this, it actually gives businesses more insight from the data that they already have instead of just looking at a bunch of scattered points.</a:t>
            </a:r>
            <a:endParaRPr lang="en-US">
              <a:ea typeface="Calibri"/>
              <a:cs typeface="Calibri"/>
            </a:endParaRPr>
          </a:p>
          <a:p>
            <a:r>
              <a:rPr lang="en-US"/>
              <a:t>For example, it can help identify areas where the business might be losing money without realizing it, dependent on certain types of customers or behaviors.</a:t>
            </a:r>
            <a:endParaRPr lang="en-US">
              <a:ea typeface="Calibri"/>
              <a:cs typeface="Calibri"/>
            </a:endParaRPr>
          </a:p>
          <a:p>
            <a:r>
              <a:rPr lang="en-US"/>
              <a:t>At the same time, it can also highlight where a large portion of revenue is coming from, helping businesses focus in on their most valuable customers.</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3376E265-B8C5-2373-6DC7-F51E0FDF893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79341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5DED-3F18-1BCB-5E52-9B7C16A71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92A82-0810-153D-9B2A-1A9775BCF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74A41-E4B6-3C56-D2D5-0D264FCBBE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F34F2E-E5E0-D520-758E-464D3829B84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379798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C2671-3C91-0581-9B9A-EB2528636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BA8B4-2C8F-2BCB-F6B2-87E5C70944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CAF36A-C713-2B5D-68D1-8D8BE30FD803}"/>
              </a:ext>
            </a:extLst>
          </p:cNvPr>
          <p:cNvSpPr>
            <a:spLocks noGrp="1"/>
          </p:cNvSpPr>
          <p:nvPr>
            <p:ph type="body" idx="1"/>
          </p:nvPr>
        </p:nvSpPr>
        <p:spPr/>
        <p:txBody>
          <a:bodyPr/>
          <a:lstStyle/>
          <a:p>
            <a:r>
              <a:rPr lang="en-US"/>
              <a:t>Here is a more complex version of what you just saw, which is closer to what you are more likely to experience in real life.</a:t>
            </a:r>
            <a:br>
              <a:rPr lang="en-US">
                <a:cs typeface="+mn-lt"/>
              </a:rPr>
            </a:br>
            <a:r>
              <a:rPr lang="en-US"/>
              <a:t>In many cases, the data would be even more complicated, where it would look just like a pile of dots with no clear pattern.</a:t>
            </a:r>
          </a:p>
          <a:p>
            <a:r>
              <a:rPr lang="en-US"/>
              <a:t>The job of the clustering model is to interpret this data and group them based on the similarities, so we can understand the information better and actually see patterns that aren’t obvious at first.</a:t>
            </a:r>
            <a:endParaRPr lang="en-US">
              <a:ea typeface="Calibri"/>
              <a:cs typeface="Calibri"/>
            </a:endParaRPr>
          </a:p>
          <a:p>
            <a:endParaRPr lang="en-US">
              <a:ea typeface="Calibri"/>
              <a:cs typeface="Calibri"/>
            </a:endParaRPr>
          </a:p>
          <a:p>
            <a:r>
              <a:rPr lang="en-US"/>
              <a:t>And By doing this, it actually gives businesses more insight from the data that they already have instead of just looking at a bunch of scattered points.</a:t>
            </a:r>
            <a:endParaRPr lang="en-US">
              <a:ea typeface="Calibri"/>
              <a:cs typeface="Calibri"/>
            </a:endParaRPr>
          </a:p>
          <a:p>
            <a:r>
              <a:rPr lang="en-US"/>
              <a:t>For example, it can help identify areas where the business might be losing money without realizing it, dependent on certain types of customers or behaviors.</a:t>
            </a:r>
            <a:endParaRPr lang="en-US">
              <a:ea typeface="Calibri"/>
              <a:cs typeface="Calibri"/>
            </a:endParaRPr>
          </a:p>
          <a:p>
            <a:r>
              <a:rPr lang="en-US"/>
              <a:t>At the same time, it can also highlight where a large portion of revenue is coming from, helping businesses focus in on their most valuable customers.</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88B0370F-535C-EC8E-A6A4-90047EF5941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45090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D8E27-9627-51F2-8D14-5776840FE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470E2-E8A4-E9A8-3570-232A7DB98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35C6D-D7F3-C65A-ABC6-5526952B0082}"/>
              </a:ext>
            </a:extLst>
          </p:cNvPr>
          <p:cNvSpPr>
            <a:spLocks noGrp="1"/>
          </p:cNvSpPr>
          <p:nvPr>
            <p:ph type="body" idx="1"/>
          </p:nvPr>
        </p:nvSpPr>
        <p:spPr/>
        <p:txBody>
          <a:bodyPr/>
          <a:lstStyle/>
          <a:p>
            <a:r>
              <a:rPr lang="en-US"/>
              <a:t>Here is a more complex version of what you just saw, which is closer to what you are more likely to experience in real life.</a:t>
            </a:r>
            <a:br>
              <a:rPr lang="en-US">
                <a:cs typeface="+mn-lt"/>
              </a:rPr>
            </a:br>
            <a:r>
              <a:rPr lang="en-US"/>
              <a:t>In many cases, the data would be even more complicated, where it would look just like a pile of dots with no clear pattern.</a:t>
            </a:r>
          </a:p>
          <a:p>
            <a:r>
              <a:rPr lang="en-US"/>
              <a:t>The job of the clustering model is to interpret this data and group them based on the similarities, so we can understand the information better and actually see patterns that aren’t obvious at first.</a:t>
            </a:r>
            <a:endParaRPr lang="en-US">
              <a:ea typeface="Calibri"/>
              <a:cs typeface="Calibri"/>
            </a:endParaRPr>
          </a:p>
          <a:p>
            <a:endParaRPr lang="en-US">
              <a:ea typeface="Calibri"/>
              <a:cs typeface="Calibri"/>
            </a:endParaRPr>
          </a:p>
          <a:p>
            <a:r>
              <a:rPr lang="en-US"/>
              <a:t>And By doing this, it actually gives businesses more insight from the data that they already have instead of just looking at a bunch of scattered points.</a:t>
            </a:r>
            <a:endParaRPr lang="en-US">
              <a:ea typeface="Calibri"/>
              <a:cs typeface="Calibri"/>
            </a:endParaRPr>
          </a:p>
          <a:p>
            <a:r>
              <a:rPr lang="en-US"/>
              <a:t>For example, it can help identify areas where the business might be losing money without realizing it, dependent on certain types of customers or behaviors.</a:t>
            </a:r>
            <a:endParaRPr lang="en-US">
              <a:ea typeface="Calibri"/>
              <a:cs typeface="Calibri"/>
            </a:endParaRPr>
          </a:p>
          <a:p>
            <a:r>
              <a:rPr lang="en-US"/>
              <a:t>At the same time, it can also highlight where a large portion of revenue is coming from, helping businesses focus in on their most valuable customers.</a:t>
            </a:r>
            <a:endParaRPr lang="en-US">
              <a:ea typeface="Calibri"/>
              <a:cs typeface="Calibri"/>
            </a:endParaRPr>
          </a:p>
          <a:p>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6E4B265D-2E1F-7D88-10A9-4E7D9EFC5AED}"/>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546058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5287-5F5C-30BC-BE99-75C32A069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852B0-EE8E-61DB-A8BA-1252FBE88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DCC64-C900-F84C-7BF0-452EFDFF65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13162F-547E-8396-0644-FC9B591ABC8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513180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8.jpe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D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p:spPr>
        <p:txBody>
          <a:bodyPr/>
          <a:lstStyle/>
          <a:p>
            <a:endParaRPr lang="en-US"/>
          </a:p>
        </p:txBody>
      </p:sp>
      <p:sp>
        <p:nvSpPr>
          <p:cNvPr id="5" name="Text 3"/>
          <p:cNvSpPr/>
          <p:nvPr/>
        </p:nvSpPr>
        <p:spPr>
          <a:xfrm>
            <a:off x="460717" y="3805604"/>
            <a:ext cx="2829658" cy="320040"/>
          </a:xfrm>
          <a:prstGeom prst="rect">
            <a:avLst/>
          </a:prstGeom>
          <a:noFill/>
          <a:ln/>
        </p:spPr>
        <p:txBody>
          <a:bodyPr wrap="square" lIns="91440" tIns="45720" rIns="91440" bIns="45720" rtlCol="0" anchor="ctr"/>
          <a:lstStyle/>
          <a:p>
            <a:pPr marL="0" indent="0">
              <a:buNone/>
            </a:pPr>
            <a:r>
              <a:rPr lang="en-US" sz="1000" b="1" kern="0" spc="300">
                <a:solidFill>
                  <a:srgbClr val="0D9488"/>
                </a:solidFill>
              </a:rPr>
              <a:t>WEST CHESTER UNIVERSITY</a:t>
            </a:r>
            <a:endParaRPr lang="en-US" sz="1000"/>
          </a:p>
        </p:txBody>
      </p:sp>
      <p:sp>
        <p:nvSpPr>
          <p:cNvPr id="6" name="Text 4"/>
          <p:cNvSpPr/>
          <p:nvPr/>
        </p:nvSpPr>
        <p:spPr>
          <a:xfrm>
            <a:off x="548640" y="2185743"/>
            <a:ext cx="7442686" cy="782223"/>
          </a:xfrm>
          <a:prstGeom prst="rect">
            <a:avLst/>
          </a:prstGeom>
          <a:noFill/>
          <a:ln/>
        </p:spPr>
        <p:txBody>
          <a:bodyPr wrap="square" lIns="91440" tIns="45720" rIns="91440" bIns="45720" rtlCol="0" anchor="ctr"/>
          <a:lstStyle/>
          <a:p>
            <a:r>
              <a:rPr lang="en-US" sz="5000" b="1">
                <a:solidFill>
                  <a:srgbClr val="FFFFFF"/>
                </a:solidFill>
                <a:latin typeface="Calibri"/>
                <a:ea typeface="Calibri"/>
                <a:cs typeface="Calibri"/>
              </a:rPr>
              <a:t> AI Pricing Manager Project</a:t>
            </a:r>
            <a:endParaRPr lang="en-US" sz="5000">
              <a:ea typeface="Calibri"/>
              <a:cs typeface="Calibri"/>
            </a:endParaRPr>
          </a:p>
        </p:txBody>
      </p:sp>
      <p:sp>
        <p:nvSpPr>
          <p:cNvPr id="8" name="Shape 6"/>
          <p:cNvSpPr/>
          <p:nvPr/>
        </p:nvSpPr>
        <p:spPr>
          <a:xfrm>
            <a:off x="548640" y="4091940"/>
            <a:ext cx="3200400" cy="36576"/>
          </a:xfrm>
          <a:prstGeom prst="rect">
            <a:avLst/>
          </a:prstGeom>
          <a:solidFill>
            <a:srgbClr val="0D9488"/>
          </a:solidFill>
          <a:ln/>
        </p:spPr>
        <p:txBody>
          <a:bodyPr/>
          <a:lstStyle/>
          <a:p>
            <a:endParaRPr lang="en-US"/>
          </a:p>
        </p:txBody>
      </p:sp>
      <p:sp>
        <p:nvSpPr>
          <p:cNvPr id="9" name="Text 7"/>
          <p:cNvSpPr/>
          <p:nvPr/>
        </p:nvSpPr>
        <p:spPr>
          <a:xfrm>
            <a:off x="548640" y="4274820"/>
            <a:ext cx="7772400" cy="365760"/>
          </a:xfrm>
          <a:prstGeom prst="rect">
            <a:avLst/>
          </a:prstGeom>
          <a:noFill/>
          <a:ln/>
        </p:spPr>
        <p:txBody>
          <a:bodyPr wrap="square" lIns="91440" tIns="45720" rIns="91440" bIns="45720" rtlCol="0" anchor="ctr"/>
          <a:lstStyle/>
          <a:p>
            <a:r>
              <a:rPr lang="en-US" sz="1300" b="1">
                <a:solidFill>
                  <a:schemeClr val="bg1"/>
                </a:solidFill>
                <a:latin typeface="Calibri"/>
                <a:ea typeface="Calibri"/>
                <a:cs typeface="Calibri"/>
              </a:rPr>
              <a:t>Ali </a:t>
            </a:r>
            <a:r>
              <a:rPr lang="en-US" sz="1300" b="1" err="1">
                <a:solidFill>
                  <a:schemeClr val="bg1"/>
                </a:solidFill>
                <a:latin typeface="Calibri"/>
                <a:ea typeface="Calibri"/>
                <a:cs typeface="Calibri"/>
              </a:rPr>
              <a:t>Abdulrazzak</a:t>
            </a:r>
            <a:r>
              <a:rPr lang="en-US" sz="1300" b="1">
                <a:solidFill>
                  <a:schemeClr val="bg1"/>
                </a:solidFill>
                <a:latin typeface="Calibri"/>
                <a:ea typeface="Calibri"/>
                <a:cs typeface="Calibri"/>
              </a:rPr>
              <a:t> ·  Logan Yates ·  Dan Gannon·  Ky-Khoa  Nguyen ·  Karan Khademi · Alexander </a:t>
            </a:r>
            <a:r>
              <a:rPr lang="en-US" sz="1300" b="1" err="1">
                <a:solidFill>
                  <a:schemeClr val="bg1"/>
                </a:solidFill>
                <a:latin typeface="Calibri"/>
                <a:ea typeface="Calibri"/>
                <a:cs typeface="Calibri"/>
              </a:rPr>
              <a:t>Sepella</a:t>
            </a:r>
            <a:r>
              <a:rPr lang="en-US" sz="1300" b="1">
                <a:solidFill>
                  <a:schemeClr val="bg1"/>
                </a:solidFill>
                <a:latin typeface="Calibri"/>
                <a:ea typeface="Calibri"/>
                <a:cs typeface="Calibri"/>
              </a:rPr>
              <a:t> </a:t>
            </a:r>
          </a:p>
        </p:txBody>
      </p:sp>
      <p:sp>
        <p:nvSpPr>
          <p:cNvPr id="11" name="Text 9"/>
          <p:cNvSpPr/>
          <p:nvPr/>
        </p:nvSpPr>
        <p:spPr>
          <a:xfrm>
            <a:off x="548640" y="4689810"/>
            <a:ext cx="2743200" cy="170190"/>
          </a:xfrm>
          <a:prstGeom prst="rect">
            <a:avLst/>
          </a:prstGeom>
          <a:noFill/>
          <a:ln/>
        </p:spPr>
        <p:txBody>
          <a:bodyPr wrap="square" lIns="91440" tIns="45720" rIns="91440" bIns="45720" rtlCol="0" anchor="ctr"/>
          <a:lstStyle/>
          <a:p>
            <a:pPr marL="0" indent="0">
              <a:buNone/>
            </a:pPr>
            <a:r>
              <a:rPr lang="en-US" sz="1100">
                <a:solidFill>
                  <a:schemeClr val="bg1"/>
                </a:solidFill>
              </a:rPr>
              <a:t>Spring 2026</a:t>
            </a:r>
            <a:endParaRPr lang="en-US" sz="1100">
              <a:solidFill>
                <a:schemeClr val="bg1"/>
              </a:solidFill>
              <a:ea typeface="Calibri"/>
              <a:cs typeface="Calibri"/>
            </a:endParaRPr>
          </a:p>
        </p:txBody>
      </p:sp>
      <p:pic>
        <p:nvPicPr>
          <p:cNvPr id="4" name="Picture 3" descr="Pinpoint and stop profit leaks - ProfitMatrix">
            <a:extLst>
              <a:ext uri="{FF2B5EF4-FFF2-40B4-BE49-F238E27FC236}">
                <a16:creationId xmlns:a16="http://schemas.microsoft.com/office/drawing/2014/main" id="{87BAB72C-C530-50B2-BEAC-4A20E7F6DFEB}"/>
              </a:ext>
            </a:extLst>
          </p:cNvPr>
          <p:cNvPicPr>
            <a:picLocks noChangeAspect="1"/>
          </p:cNvPicPr>
          <p:nvPr/>
        </p:nvPicPr>
        <p:blipFill>
          <a:blip r:embed="rId3"/>
          <a:stretch>
            <a:fillRect/>
          </a:stretch>
        </p:blipFill>
        <p:spPr>
          <a:xfrm>
            <a:off x="-610" y="609862"/>
            <a:ext cx="4858361" cy="1967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37160" y="0"/>
            <a:ext cx="9006840" cy="914400"/>
          </a:xfrm>
          <a:prstGeom prst="rect">
            <a:avLst/>
          </a:prstGeom>
          <a:solidFill>
            <a:srgbClr val="1A2B5C"/>
          </a:solidFill>
          <a:ln w="12700">
            <a:solidFill>
              <a:srgbClr val="1A2B5C"/>
            </a:solidFill>
            <a:prstDash val="solid"/>
          </a:ln>
        </p:spPr>
        <p:txBody>
          <a:bodyPr/>
          <a:lstStyle/>
          <a:p>
            <a:endParaRPr lang="en-US"/>
          </a:p>
        </p:txBody>
      </p:sp>
      <p:sp>
        <p:nvSpPr>
          <p:cNvPr id="4" name="Text 2"/>
          <p:cNvSpPr/>
          <p:nvPr/>
        </p:nvSpPr>
        <p:spPr>
          <a:xfrm>
            <a:off x="411480" y="91440"/>
            <a:ext cx="8503920" cy="731520"/>
          </a:xfrm>
          <a:prstGeom prst="rect">
            <a:avLst/>
          </a:prstGeom>
          <a:noFill/>
          <a:ln/>
        </p:spPr>
        <p:txBody>
          <a:bodyPr wrap="square" lIns="0" tIns="0" rIns="0" bIns="0"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The Vision</a:t>
            </a:r>
            <a:endParaRPr lang="en-US" sz="2800"/>
          </a:p>
        </p:txBody>
      </p:sp>
      <p:sp>
        <p:nvSpPr>
          <p:cNvPr id="5" name="Text 3"/>
          <p:cNvSpPr/>
          <p:nvPr/>
        </p:nvSpPr>
        <p:spPr>
          <a:xfrm>
            <a:off x="457200" y="1188720"/>
            <a:ext cx="3840480" cy="1417320"/>
          </a:xfrm>
          <a:prstGeom prst="rect">
            <a:avLst/>
          </a:prstGeom>
          <a:noFill/>
          <a:ln/>
        </p:spPr>
        <p:txBody>
          <a:bodyPr wrap="square" lIns="0" tIns="0" rIns="0" bIns="0" rtlCol="0" anchor="ctr"/>
          <a:lstStyle/>
          <a:p>
            <a:pPr marL="0" indent="0" algn="l">
              <a:buNone/>
            </a:pPr>
            <a:r>
              <a:rPr lang="en-US" sz="11000" b="1">
                <a:solidFill>
                  <a:srgbClr val="0D9488"/>
                </a:solidFill>
                <a:latin typeface="Calibri" pitchFamily="34" charset="0"/>
                <a:ea typeface="Calibri" pitchFamily="34" charset="-122"/>
                <a:cs typeface="Calibri" pitchFamily="34" charset="-120"/>
              </a:rPr>
              <a:t>$20B</a:t>
            </a:r>
            <a:endParaRPr lang="en-US" sz="11000"/>
          </a:p>
        </p:txBody>
      </p:sp>
      <p:sp>
        <p:nvSpPr>
          <p:cNvPr id="6" name="Text 4"/>
          <p:cNvSpPr/>
          <p:nvPr/>
        </p:nvSpPr>
        <p:spPr>
          <a:xfrm>
            <a:off x="457200" y="2606040"/>
            <a:ext cx="3840480" cy="411480"/>
          </a:xfrm>
          <a:prstGeom prst="rect">
            <a:avLst/>
          </a:prstGeom>
          <a:noFill/>
          <a:ln/>
        </p:spPr>
        <p:txBody>
          <a:bodyPr wrap="square" lIns="0" tIns="0" rIns="0" bIns="0" rtlCol="0" anchor="ctr"/>
          <a:lstStyle/>
          <a:p>
            <a:pPr marL="0" indent="0" algn="l">
              <a:buNone/>
            </a:pPr>
            <a:r>
              <a:rPr lang="en-US" sz="2000" b="1">
                <a:solidFill>
                  <a:srgbClr val="1A2B5C"/>
                </a:solidFill>
                <a:latin typeface="Calibri" pitchFamily="34" charset="0"/>
                <a:ea typeface="Calibri" pitchFamily="34" charset="-122"/>
                <a:cs typeface="Calibri" pitchFamily="34" charset="-120"/>
              </a:rPr>
              <a:t>lost every year</a:t>
            </a:r>
            <a:endParaRPr lang="en-US" sz="2000"/>
          </a:p>
        </p:txBody>
      </p:sp>
      <p:sp>
        <p:nvSpPr>
          <p:cNvPr id="7" name="Text 5"/>
          <p:cNvSpPr/>
          <p:nvPr/>
        </p:nvSpPr>
        <p:spPr>
          <a:xfrm>
            <a:off x="457200" y="3063240"/>
            <a:ext cx="3840480" cy="1097280"/>
          </a:xfrm>
          <a:prstGeom prst="rect">
            <a:avLst/>
          </a:prstGeom>
          <a:noFill/>
          <a:ln/>
        </p:spPr>
        <p:txBody>
          <a:bodyPr wrap="square" lIns="0" tIns="0" rIns="0" bIns="0" rtlCol="0" anchor="t"/>
          <a:lstStyle/>
          <a:p>
            <a:pPr marL="0" indent="0" algn="l">
              <a:buNone/>
            </a:pPr>
            <a:r>
              <a:rPr lang="en-US" sz="1400">
                <a:solidFill>
                  <a:srgbClr val="000000"/>
                </a:solidFill>
                <a:latin typeface="Calibri"/>
                <a:ea typeface="Calibri"/>
                <a:cs typeface="Calibri"/>
              </a:rPr>
              <a:t>Small manufacturers bleed margin through hidden profit leaks — and nobody catches it.</a:t>
            </a:r>
          </a:p>
        </p:txBody>
      </p:sp>
      <p:sp>
        <p:nvSpPr>
          <p:cNvPr id="8" name="Text 6"/>
          <p:cNvSpPr/>
          <p:nvPr/>
        </p:nvSpPr>
        <p:spPr>
          <a:xfrm>
            <a:off x="457200" y="4663440"/>
            <a:ext cx="3840480" cy="274320"/>
          </a:xfrm>
          <a:prstGeom prst="rect">
            <a:avLst/>
          </a:prstGeom>
          <a:noFill/>
          <a:ln/>
        </p:spPr>
        <p:txBody>
          <a:bodyPr wrap="square" lIns="0" tIns="0" rIns="0" bIns="0" rtlCol="0" anchor="ctr"/>
          <a:lstStyle/>
          <a:p>
            <a:pPr marL="0" indent="0" algn="l">
              <a:buNone/>
            </a:pPr>
            <a:endParaRPr lang="en-US" sz="900" i="1">
              <a:solidFill>
                <a:srgbClr val="64748B"/>
              </a:solidFill>
              <a:ea typeface="Calibri"/>
              <a:cs typeface="Calibri"/>
            </a:endParaRPr>
          </a:p>
        </p:txBody>
      </p:sp>
      <p:sp>
        <p:nvSpPr>
          <p:cNvPr id="9" name="Shape 7"/>
          <p:cNvSpPr/>
          <p:nvPr/>
        </p:nvSpPr>
        <p:spPr>
          <a:xfrm>
            <a:off x="4846320" y="1234440"/>
            <a:ext cx="3931920" cy="960120"/>
          </a:xfrm>
          <a:prstGeom prst="rect">
            <a:avLst/>
          </a:prstGeom>
          <a:solidFill>
            <a:srgbClr val="FFFFFF"/>
          </a:solidFill>
          <a:ln w="9525">
            <a:solidFill>
              <a:srgbClr val="E2E8F0"/>
            </a:solidFill>
            <a:prstDash val="solid"/>
          </a:ln>
        </p:spPr>
        <p:txBody>
          <a:bodyPr/>
          <a:lstStyle/>
          <a:p>
            <a:endParaRPr lang="en-US"/>
          </a:p>
        </p:txBody>
      </p:sp>
      <p:sp>
        <p:nvSpPr>
          <p:cNvPr id="10" name="Shape 8"/>
          <p:cNvSpPr/>
          <p:nvPr/>
        </p:nvSpPr>
        <p:spPr>
          <a:xfrm>
            <a:off x="4846320" y="1234440"/>
            <a:ext cx="73152" cy="960120"/>
          </a:xfrm>
          <a:prstGeom prst="rect">
            <a:avLst/>
          </a:prstGeom>
          <a:solidFill>
            <a:srgbClr val="0D9488"/>
          </a:solidFill>
          <a:ln w="12700">
            <a:solidFill>
              <a:srgbClr val="0D9488"/>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074920" y="1444752"/>
            <a:ext cx="548640" cy="548640"/>
          </a:xfrm>
          <a:prstGeom prst="rect">
            <a:avLst/>
          </a:prstGeom>
        </p:spPr>
      </p:pic>
      <p:sp>
        <p:nvSpPr>
          <p:cNvPr id="12" name="Text 9"/>
          <p:cNvSpPr/>
          <p:nvPr/>
        </p:nvSpPr>
        <p:spPr>
          <a:xfrm>
            <a:off x="5806440" y="1344168"/>
            <a:ext cx="2834640" cy="365760"/>
          </a:xfrm>
          <a:prstGeom prst="rect">
            <a:avLst/>
          </a:prstGeom>
          <a:noFill/>
          <a:ln/>
        </p:spPr>
        <p:txBody>
          <a:bodyPr wrap="square" lIns="0" tIns="0" rIns="0" bIns="0" rtlCol="0" anchor="ctr"/>
          <a:lstStyle/>
          <a:p>
            <a:pPr marL="0" indent="0" algn="l">
              <a:buNone/>
            </a:pPr>
            <a:r>
              <a:rPr lang="en-US" sz="1500" b="1">
                <a:solidFill>
                  <a:srgbClr val="1A2B5C"/>
                </a:solidFill>
                <a:latin typeface="Calibri" pitchFamily="34" charset="0"/>
                <a:ea typeface="Calibri" pitchFamily="34" charset="-122"/>
                <a:cs typeface="Calibri" pitchFamily="34" charset="-120"/>
              </a:rPr>
              <a:t>One-person spreadsheets</a:t>
            </a:r>
            <a:endParaRPr lang="en-US" sz="1500"/>
          </a:p>
        </p:txBody>
      </p:sp>
      <p:sp>
        <p:nvSpPr>
          <p:cNvPr id="13" name="Text 10"/>
          <p:cNvSpPr/>
          <p:nvPr/>
        </p:nvSpPr>
        <p:spPr>
          <a:xfrm>
            <a:off x="5806440" y="1709928"/>
            <a:ext cx="2834640" cy="457200"/>
          </a:xfrm>
          <a:prstGeom prst="rect">
            <a:avLst/>
          </a:prstGeom>
          <a:noFill/>
          <a:ln/>
        </p:spPr>
        <p:txBody>
          <a:bodyPr wrap="square" lIns="0" tIns="0" rIns="0" bIns="0" rtlCol="0" anchor="t"/>
          <a:lstStyle/>
          <a:p>
            <a:pPr marL="0" indent="0" algn="l">
              <a:buNone/>
            </a:pPr>
            <a:r>
              <a:rPr lang="en-US" sz="1200">
                <a:solidFill>
                  <a:srgbClr val="64748B"/>
                </a:solidFill>
                <a:latin typeface="Calibri" pitchFamily="34" charset="0"/>
                <a:ea typeface="Calibri" pitchFamily="34" charset="-122"/>
                <a:cs typeface="Calibri" pitchFamily="34" charset="-120"/>
              </a:rPr>
              <a:t>Institutional knowledge walks out the door.</a:t>
            </a:r>
            <a:endParaRPr lang="en-US" sz="1200"/>
          </a:p>
        </p:txBody>
      </p:sp>
      <p:sp>
        <p:nvSpPr>
          <p:cNvPr id="14" name="Shape 11"/>
          <p:cNvSpPr/>
          <p:nvPr/>
        </p:nvSpPr>
        <p:spPr>
          <a:xfrm>
            <a:off x="4846320" y="2377440"/>
            <a:ext cx="3931920" cy="960120"/>
          </a:xfrm>
          <a:prstGeom prst="rect">
            <a:avLst/>
          </a:prstGeom>
          <a:solidFill>
            <a:srgbClr val="FFFFFF"/>
          </a:solidFill>
          <a:ln w="9525">
            <a:solidFill>
              <a:srgbClr val="E2E8F0"/>
            </a:solidFill>
            <a:prstDash val="solid"/>
          </a:ln>
        </p:spPr>
        <p:txBody>
          <a:bodyPr/>
          <a:lstStyle/>
          <a:p>
            <a:endParaRPr lang="en-US"/>
          </a:p>
        </p:txBody>
      </p:sp>
      <p:sp>
        <p:nvSpPr>
          <p:cNvPr id="15" name="Shape 12"/>
          <p:cNvSpPr/>
          <p:nvPr/>
        </p:nvSpPr>
        <p:spPr>
          <a:xfrm>
            <a:off x="4846320" y="2377440"/>
            <a:ext cx="73152" cy="960120"/>
          </a:xfrm>
          <a:prstGeom prst="rect">
            <a:avLst/>
          </a:prstGeom>
          <a:solidFill>
            <a:srgbClr val="0D9488"/>
          </a:solidFill>
          <a:ln w="12700">
            <a:solidFill>
              <a:srgbClr val="0D9488"/>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5074920" y="2587752"/>
            <a:ext cx="548640" cy="548640"/>
          </a:xfrm>
          <a:prstGeom prst="rect">
            <a:avLst/>
          </a:prstGeom>
        </p:spPr>
      </p:pic>
      <p:sp>
        <p:nvSpPr>
          <p:cNvPr id="17" name="Text 13"/>
          <p:cNvSpPr/>
          <p:nvPr/>
        </p:nvSpPr>
        <p:spPr>
          <a:xfrm>
            <a:off x="5806440" y="2487168"/>
            <a:ext cx="2834640" cy="365760"/>
          </a:xfrm>
          <a:prstGeom prst="rect">
            <a:avLst/>
          </a:prstGeom>
          <a:noFill/>
          <a:ln/>
        </p:spPr>
        <p:txBody>
          <a:bodyPr wrap="square" lIns="0" tIns="0" rIns="0" bIns="0" rtlCol="0" anchor="ctr"/>
          <a:lstStyle/>
          <a:p>
            <a:pPr marL="0" indent="0" algn="l">
              <a:buNone/>
            </a:pPr>
            <a:r>
              <a:rPr lang="en-US" sz="1500" b="1">
                <a:solidFill>
                  <a:srgbClr val="1A2B5C"/>
                </a:solidFill>
                <a:latin typeface="Calibri" pitchFamily="34" charset="0"/>
                <a:ea typeface="Calibri" pitchFamily="34" charset="-122"/>
                <a:cs typeface="Calibri" pitchFamily="34" charset="-120"/>
              </a:rPr>
              <a:t>No early warning system</a:t>
            </a:r>
            <a:endParaRPr lang="en-US" sz="1500"/>
          </a:p>
        </p:txBody>
      </p:sp>
      <p:sp>
        <p:nvSpPr>
          <p:cNvPr id="18" name="Text 14"/>
          <p:cNvSpPr/>
          <p:nvPr/>
        </p:nvSpPr>
        <p:spPr>
          <a:xfrm>
            <a:off x="5806440" y="2852928"/>
            <a:ext cx="2834640" cy="457200"/>
          </a:xfrm>
          <a:prstGeom prst="rect">
            <a:avLst/>
          </a:prstGeom>
          <a:noFill/>
          <a:ln/>
        </p:spPr>
        <p:txBody>
          <a:bodyPr wrap="square" lIns="0" tIns="0" rIns="0" bIns="0" rtlCol="0" anchor="t"/>
          <a:lstStyle/>
          <a:p>
            <a:pPr marL="0" indent="0" algn="l">
              <a:buNone/>
            </a:pPr>
            <a:r>
              <a:rPr lang="en-US" sz="1200">
                <a:solidFill>
                  <a:srgbClr val="64748B"/>
                </a:solidFill>
                <a:latin typeface="Calibri" pitchFamily="34" charset="0"/>
                <a:ea typeface="Calibri" pitchFamily="34" charset="-122"/>
                <a:cs typeface="Calibri" pitchFamily="34" charset="-120"/>
              </a:rPr>
              <a:t>No pricing team, no analysts, no alerts.</a:t>
            </a:r>
            <a:endParaRPr lang="en-US" sz="1200"/>
          </a:p>
        </p:txBody>
      </p:sp>
      <p:sp>
        <p:nvSpPr>
          <p:cNvPr id="19" name="Shape 15"/>
          <p:cNvSpPr/>
          <p:nvPr/>
        </p:nvSpPr>
        <p:spPr>
          <a:xfrm>
            <a:off x="4846320" y="3520440"/>
            <a:ext cx="3931920" cy="960120"/>
          </a:xfrm>
          <a:prstGeom prst="rect">
            <a:avLst/>
          </a:prstGeom>
          <a:solidFill>
            <a:srgbClr val="FFFFFF"/>
          </a:solidFill>
          <a:ln w="9525">
            <a:solidFill>
              <a:srgbClr val="E2E8F0"/>
            </a:solidFill>
            <a:prstDash val="solid"/>
          </a:ln>
        </p:spPr>
        <p:txBody>
          <a:bodyPr/>
          <a:lstStyle/>
          <a:p>
            <a:endParaRPr lang="en-US"/>
          </a:p>
        </p:txBody>
      </p:sp>
      <p:sp>
        <p:nvSpPr>
          <p:cNvPr id="20" name="Shape 16"/>
          <p:cNvSpPr/>
          <p:nvPr/>
        </p:nvSpPr>
        <p:spPr>
          <a:xfrm>
            <a:off x="4846320" y="3520440"/>
            <a:ext cx="73152" cy="960120"/>
          </a:xfrm>
          <a:prstGeom prst="rect">
            <a:avLst/>
          </a:prstGeom>
          <a:solidFill>
            <a:srgbClr val="0D9488"/>
          </a:solidFill>
          <a:ln w="12700">
            <a:solidFill>
              <a:srgbClr val="0D9488"/>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5074920" y="3730752"/>
            <a:ext cx="548640" cy="548640"/>
          </a:xfrm>
          <a:prstGeom prst="rect">
            <a:avLst/>
          </a:prstGeom>
        </p:spPr>
      </p:pic>
      <p:sp>
        <p:nvSpPr>
          <p:cNvPr id="22" name="Text 17"/>
          <p:cNvSpPr/>
          <p:nvPr/>
        </p:nvSpPr>
        <p:spPr>
          <a:xfrm>
            <a:off x="5806440" y="3630168"/>
            <a:ext cx="2834640" cy="365760"/>
          </a:xfrm>
          <a:prstGeom prst="rect">
            <a:avLst/>
          </a:prstGeom>
          <a:noFill/>
          <a:ln/>
        </p:spPr>
        <p:txBody>
          <a:bodyPr wrap="square" lIns="0" tIns="0" rIns="0" bIns="0" rtlCol="0" anchor="ctr"/>
          <a:lstStyle/>
          <a:p>
            <a:pPr marL="0" indent="0" algn="l">
              <a:buNone/>
            </a:pPr>
            <a:r>
              <a:rPr lang="en-US" sz="1500" b="1">
                <a:solidFill>
                  <a:srgbClr val="1A2B5C"/>
                </a:solidFill>
                <a:latin typeface="Calibri" pitchFamily="34" charset="0"/>
                <a:ea typeface="Calibri" pitchFamily="34" charset="-122"/>
                <a:cs typeface="Calibri" pitchFamily="34" charset="-120"/>
              </a:rPr>
              <a:t>Silent margin erosion</a:t>
            </a:r>
            <a:endParaRPr lang="en-US" sz="1500"/>
          </a:p>
        </p:txBody>
      </p:sp>
      <p:sp>
        <p:nvSpPr>
          <p:cNvPr id="23" name="Text 18"/>
          <p:cNvSpPr/>
          <p:nvPr/>
        </p:nvSpPr>
        <p:spPr>
          <a:xfrm>
            <a:off x="5806440" y="3995928"/>
            <a:ext cx="2834640" cy="457200"/>
          </a:xfrm>
          <a:prstGeom prst="rect">
            <a:avLst/>
          </a:prstGeom>
          <a:noFill/>
          <a:ln/>
        </p:spPr>
        <p:txBody>
          <a:bodyPr wrap="square" lIns="0" tIns="0" rIns="0" bIns="0" rtlCol="0" anchor="t"/>
          <a:lstStyle/>
          <a:p>
            <a:pPr marL="0" indent="0" algn="l">
              <a:buNone/>
            </a:pPr>
            <a:r>
              <a:rPr lang="en-US" sz="1200">
                <a:solidFill>
                  <a:srgbClr val="64748B"/>
                </a:solidFill>
                <a:latin typeface="Calibri" pitchFamily="34" charset="0"/>
                <a:ea typeface="Calibri" pitchFamily="34" charset="-122"/>
                <a:cs typeface="Calibri" pitchFamily="34" charset="-120"/>
              </a:rPr>
              <a:t>Revenue is gone before anyone notices.</a:t>
            </a:r>
            <a:endParaRPr lang="en-US" sz="1200"/>
          </a:p>
        </p:txBody>
      </p:sp>
      <p:sp>
        <p:nvSpPr>
          <p:cNvPr id="24" name="TextBox 23">
            <a:extLst>
              <a:ext uri="{FF2B5EF4-FFF2-40B4-BE49-F238E27FC236}">
                <a16:creationId xmlns:a16="http://schemas.microsoft.com/office/drawing/2014/main" id="{A6723716-DD73-D8A5-BF09-D1C78EA685F3}"/>
              </a:ext>
            </a:extLst>
          </p:cNvPr>
          <p:cNvSpPr txBox="1"/>
          <p:nvPr/>
        </p:nvSpPr>
        <p:spPr>
          <a:xfrm>
            <a:off x="8542404" y="223231"/>
            <a:ext cx="380232" cy="553998"/>
          </a:xfrm>
          <a:prstGeom prst="rect">
            <a:avLst/>
          </a:prstGeom>
          <a:noFill/>
        </p:spPr>
        <p:txBody>
          <a:bodyPr wrap="none" rtlCol="0">
            <a:spAutoFit/>
          </a:bodyPr>
          <a:lstStyle/>
          <a:p>
            <a:r>
              <a:rPr lang="en-US" sz="3000">
                <a:solidFill>
                  <a:schemeClr val="bg1"/>
                </a:solidFill>
              </a:rPr>
              <a:t>2</a:t>
            </a:r>
          </a:p>
        </p:txBody>
      </p:sp>
    </p:spTree>
    <p:extLst>
      <p:ext uri="{BB962C8B-B14F-4D97-AF65-F5344CB8AC3E}">
        <p14:creationId xmlns:p14="http://schemas.microsoft.com/office/powerpoint/2010/main" val="3523759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37160" y="0"/>
            <a:ext cx="9006840" cy="914400"/>
          </a:xfrm>
          <a:prstGeom prst="rect">
            <a:avLst/>
          </a:prstGeom>
          <a:solidFill>
            <a:srgbClr val="1A2B5C"/>
          </a:solidFill>
          <a:ln w="12700">
            <a:solidFill>
              <a:srgbClr val="1A2B5C"/>
            </a:solidFill>
            <a:prstDash val="solid"/>
          </a:ln>
        </p:spPr>
        <p:txBody>
          <a:bodyPr/>
          <a:lstStyle/>
          <a:p>
            <a:endParaRPr lang="en-US"/>
          </a:p>
        </p:txBody>
      </p:sp>
      <p:sp>
        <p:nvSpPr>
          <p:cNvPr id="4" name="Text 2"/>
          <p:cNvSpPr/>
          <p:nvPr/>
        </p:nvSpPr>
        <p:spPr>
          <a:xfrm>
            <a:off x="411480" y="91440"/>
            <a:ext cx="8503920" cy="731520"/>
          </a:xfrm>
          <a:prstGeom prst="rect">
            <a:avLst/>
          </a:prstGeom>
          <a:noFill/>
          <a:ln/>
        </p:spPr>
        <p:txBody>
          <a:bodyPr wrap="square" lIns="0" tIns="0" rIns="0" bIns="0"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About Our Client</a:t>
            </a:r>
            <a:endParaRPr lang="en-US" sz="2800"/>
          </a:p>
        </p:txBody>
      </p:sp>
      <p:sp>
        <p:nvSpPr>
          <p:cNvPr id="9" name="Text 6"/>
          <p:cNvSpPr/>
          <p:nvPr/>
        </p:nvSpPr>
        <p:spPr>
          <a:xfrm>
            <a:off x="457200" y="1092708"/>
            <a:ext cx="4754880" cy="292608"/>
          </a:xfrm>
          <a:prstGeom prst="rect">
            <a:avLst/>
          </a:prstGeom>
          <a:noFill/>
          <a:ln/>
        </p:spPr>
        <p:txBody>
          <a:bodyPr wrap="square" lIns="0" tIns="0" rIns="0" bIns="0" rtlCol="0" anchor="ctr"/>
          <a:lstStyle/>
          <a:p>
            <a:pPr marL="0" indent="0" algn="l">
              <a:buNone/>
            </a:pPr>
            <a:r>
              <a:rPr lang="en-US" sz="1200" b="1" kern="0" spc="400" dirty="0">
                <a:solidFill>
                  <a:srgbClr val="0D9488"/>
                </a:solidFill>
                <a:latin typeface="Calibri" pitchFamily="34" charset="0"/>
                <a:ea typeface="Calibri" pitchFamily="34" charset="-122"/>
                <a:cs typeface="Calibri" pitchFamily="34" charset="-120"/>
              </a:rPr>
              <a:t>MISSION</a:t>
            </a:r>
            <a:endParaRPr lang="en-US" sz="1200" dirty="0"/>
          </a:p>
        </p:txBody>
      </p:sp>
      <p:sp>
        <p:nvSpPr>
          <p:cNvPr id="10" name="Text 7"/>
          <p:cNvSpPr/>
          <p:nvPr/>
        </p:nvSpPr>
        <p:spPr>
          <a:xfrm>
            <a:off x="457200" y="1385316"/>
            <a:ext cx="4754880" cy="1097280"/>
          </a:xfrm>
          <a:prstGeom prst="rect">
            <a:avLst/>
          </a:prstGeom>
          <a:noFill/>
          <a:ln/>
        </p:spPr>
        <p:txBody>
          <a:bodyPr wrap="square" lIns="0" tIns="0" rIns="0" bIns="0" rtlCol="0" anchor="t"/>
          <a:lstStyle/>
          <a:p>
            <a:pPr marL="0" indent="0" algn="l">
              <a:buNone/>
            </a:pPr>
            <a:r>
              <a:rPr lang="en-US" sz="1800" b="1" dirty="0">
                <a:solidFill>
                  <a:srgbClr val="1A2B5C"/>
                </a:solidFill>
                <a:latin typeface="Calibri" pitchFamily="34" charset="0"/>
                <a:ea typeface="Calibri" pitchFamily="34" charset="-122"/>
                <a:cs typeface="Calibri" pitchFamily="34" charset="-120"/>
              </a:rPr>
              <a:t>Maximize profit for manufacturers using simple, intuitive, and automated playbooks for pricing and margin analysis.</a:t>
            </a:r>
            <a:endParaRPr lang="en-US" sz="1800" dirty="0"/>
          </a:p>
        </p:txBody>
      </p:sp>
      <p:sp>
        <p:nvSpPr>
          <p:cNvPr id="11" name="Text 8"/>
          <p:cNvSpPr/>
          <p:nvPr/>
        </p:nvSpPr>
        <p:spPr>
          <a:xfrm>
            <a:off x="457200" y="2510028"/>
            <a:ext cx="4754880" cy="777240"/>
          </a:xfrm>
          <a:prstGeom prst="rect">
            <a:avLst/>
          </a:prstGeom>
          <a:noFill/>
          <a:ln/>
        </p:spPr>
        <p:txBody>
          <a:bodyPr wrap="square" lIns="0" tIns="0" rIns="0" bIns="0" rtlCol="0" anchor="t"/>
          <a:lstStyle/>
          <a:p>
            <a:pPr marL="0" indent="0" algn="l">
              <a:buNone/>
            </a:pPr>
            <a:r>
              <a:rPr lang="en-US" sz="1300">
                <a:latin typeface="Calibri"/>
                <a:ea typeface="Calibri"/>
                <a:cs typeface="Calibri"/>
              </a:rPr>
              <a:t>Giving small &amp; mid-size manufacturers access to the same best-in-class pricing frameworks the largest companies use — to recover margin leakage at scale.</a:t>
            </a:r>
          </a:p>
        </p:txBody>
      </p:sp>
      <p:pic>
        <p:nvPicPr>
          <p:cNvPr id="12" name="Image 1" descr="preencoded.png"/>
          <p:cNvPicPr>
            <a:picLocks noChangeAspect="1"/>
          </p:cNvPicPr>
          <p:nvPr/>
        </p:nvPicPr>
        <p:blipFill>
          <a:blip r:embed="rId3"/>
          <a:stretch>
            <a:fillRect/>
          </a:stretch>
        </p:blipFill>
        <p:spPr>
          <a:xfrm>
            <a:off x="457200" y="3561588"/>
            <a:ext cx="292608" cy="292608"/>
          </a:xfrm>
          <a:prstGeom prst="rect">
            <a:avLst/>
          </a:prstGeom>
        </p:spPr>
      </p:pic>
      <p:sp>
        <p:nvSpPr>
          <p:cNvPr id="13" name="Text 9"/>
          <p:cNvSpPr/>
          <p:nvPr/>
        </p:nvSpPr>
        <p:spPr>
          <a:xfrm>
            <a:off x="868680" y="3515868"/>
            <a:ext cx="1828800" cy="384048"/>
          </a:xfrm>
          <a:prstGeom prst="rect">
            <a:avLst/>
          </a:prstGeom>
          <a:noFill/>
          <a:ln/>
        </p:spPr>
        <p:txBody>
          <a:bodyPr wrap="square" lIns="0" tIns="0" rIns="0" bIns="0" rtlCol="0" anchor="ctr"/>
          <a:lstStyle/>
          <a:p>
            <a:pPr marL="0" indent="0" algn="l">
              <a:buNone/>
            </a:pPr>
            <a:r>
              <a:rPr lang="en-US" sz="1200" b="1">
                <a:solidFill>
                  <a:srgbClr val="1A2B5C"/>
                </a:solidFill>
                <a:latin typeface="Calibri" pitchFamily="34" charset="0"/>
                <a:ea typeface="Calibri" pitchFamily="34" charset="-122"/>
                <a:cs typeface="Calibri" pitchFamily="34" charset="-120"/>
              </a:rPr>
              <a:t>Kennett Square, PA</a:t>
            </a:r>
            <a:endParaRPr lang="en-US" sz="1200"/>
          </a:p>
        </p:txBody>
      </p:sp>
      <p:pic>
        <p:nvPicPr>
          <p:cNvPr id="14" name="Image 2" descr="preencoded.png"/>
          <p:cNvPicPr>
            <a:picLocks noChangeAspect="1"/>
          </p:cNvPicPr>
          <p:nvPr/>
        </p:nvPicPr>
        <p:blipFill>
          <a:blip r:embed="rId4"/>
          <a:stretch>
            <a:fillRect/>
          </a:stretch>
        </p:blipFill>
        <p:spPr>
          <a:xfrm>
            <a:off x="2788920" y="3561588"/>
            <a:ext cx="292608" cy="292608"/>
          </a:xfrm>
          <a:prstGeom prst="rect">
            <a:avLst/>
          </a:prstGeom>
        </p:spPr>
      </p:pic>
      <p:sp>
        <p:nvSpPr>
          <p:cNvPr id="15" name="Text 10"/>
          <p:cNvSpPr/>
          <p:nvPr/>
        </p:nvSpPr>
        <p:spPr>
          <a:xfrm>
            <a:off x="3200400" y="3515868"/>
            <a:ext cx="1828800" cy="384048"/>
          </a:xfrm>
          <a:prstGeom prst="rect">
            <a:avLst/>
          </a:prstGeom>
          <a:noFill/>
          <a:ln/>
        </p:spPr>
        <p:txBody>
          <a:bodyPr wrap="square" lIns="0" tIns="0" rIns="0" bIns="0" rtlCol="0" anchor="ctr"/>
          <a:lstStyle/>
          <a:p>
            <a:pPr marL="0" indent="0" algn="l">
              <a:buNone/>
            </a:pPr>
            <a:r>
              <a:rPr lang="en-US" sz="1200" b="1">
                <a:solidFill>
                  <a:srgbClr val="1A2B5C"/>
                </a:solidFill>
                <a:latin typeface="Calibri" pitchFamily="34" charset="0"/>
                <a:ea typeface="Calibri" pitchFamily="34" charset="-122"/>
                <a:cs typeface="Calibri" pitchFamily="34" charset="-120"/>
              </a:rPr>
              <a:t>Founded 2024</a:t>
            </a:r>
            <a:endParaRPr lang="en-US" sz="1200"/>
          </a:p>
        </p:txBody>
      </p:sp>
      <p:pic>
        <p:nvPicPr>
          <p:cNvPr id="16" name="Image 3" descr="preencoded.png"/>
          <p:cNvPicPr>
            <a:picLocks noChangeAspect="1"/>
          </p:cNvPicPr>
          <p:nvPr/>
        </p:nvPicPr>
        <p:blipFill>
          <a:blip r:embed="rId5"/>
          <a:stretch>
            <a:fillRect/>
          </a:stretch>
        </p:blipFill>
        <p:spPr>
          <a:xfrm>
            <a:off x="457200" y="4041648"/>
            <a:ext cx="292608" cy="292608"/>
          </a:xfrm>
          <a:prstGeom prst="rect">
            <a:avLst/>
          </a:prstGeom>
        </p:spPr>
      </p:pic>
      <p:sp>
        <p:nvSpPr>
          <p:cNvPr id="17" name="Text 11"/>
          <p:cNvSpPr/>
          <p:nvPr/>
        </p:nvSpPr>
        <p:spPr>
          <a:xfrm>
            <a:off x="868680" y="3995928"/>
            <a:ext cx="1828800" cy="384048"/>
          </a:xfrm>
          <a:prstGeom prst="rect">
            <a:avLst/>
          </a:prstGeom>
          <a:noFill/>
          <a:ln/>
        </p:spPr>
        <p:txBody>
          <a:bodyPr wrap="square" lIns="0" tIns="0" rIns="0" bIns="0" rtlCol="0" anchor="ctr"/>
          <a:lstStyle/>
          <a:p>
            <a:pPr marL="0" indent="0" algn="l">
              <a:buNone/>
            </a:pPr>
            <a:r>
              <a:rPr lang="en-US" sz="1200" b="1">
                <a:solidFill>
                  <a:srgbClr val="1A2B5C"/>
                </a:solidFill>
                <a:latin typeface="Calibri" pitchFamily="34" charset="0"/>
                <a:ea typeface="Calibri" pitchFamily="34" charset="-122"/>
                <a:cs typeface="Calibri" pitchFamily="34" charset="-120"/>
              </a:rPr>
              <a:t>Mid-size manufacturers</a:t>
            </a:r>
            <a:endParaRPr lang="en-US" sz="1200"/>
          </a:p>
        </p:txBody>
      </p:sp>
      <p:pic>
        <p:nvPicPr>
          <p:cNvPr id="18" name="Image 4" descr="preencoded.png"/>
          <p:cNvPicPr>
            <a:picLocks noChangeAspect="1"/>
          </p:cNvPicPr>
          <p:nvPr/>
        </p:nvPicPr>
        <p:blipFill>
          <a:blip r:embed="rId6"/>
          <a:stretch>
            <a:fillRect/>
          </a:stretch>
        </p:blipFill>
        <p:spPr>
          <a:xfrm>
            <a:off x="2788920" y="4041648"/>
            <a:ext cx="292608" cy="292608"/>
          </a:xfrm>
          <a:prstGeom prst="rect">
            <a:avLst/>
          </a:prstGeom>
        </p:spPr>
      </p:pic>
      <p:sp>
        <p:nvSpPr>
          <p:cNvPr id="19" name="Text 12"/>
          <p:cNvSpPr/>
          <p:nvPr/>
        </p:nvSpPr>
        <p:spPr>
          <a:xfrm>
            <a:off x="3200400" y="3995928"/>
            <a:ext cx="1828800" cy="384048"/>
          </a:xfrm>
          <a:prstGeom prst="rect">
            <a:avLst/>
          </a:prstGeom>
          <a:noFill/>
          <a:ln/>
        </p:spPr>
        <p:txBody>
          <a:bodyPr wrap="square" lIns="0" tIns="0" rIns="0" bIns="0" rtlCol="0" anchor="ctr"/>
          <a:lstStyle/>
          <a:p>
            <a:pPr marL="0" indent="0" algn="l">
              <a:buNone/>
            </a:pPr>
            <a:r>
              <a:rPr lang="en-US" sz="1200" b="1">
                <a:solidFill>
                  <a:srgbClr val="1A2B5C"/>
                </a:solidFill>
                <a:latin typeface="Calibri" pitchFamily="34" charset="0"/>
                <a:ea typeface="Calibri" pitchFamily="34" charset="-122"/>
                <a:cs typeface="Calibri" pitchFamily="34" charset="-120"/>
              </a:rPr>
              <a:t>1K+ SKU complexity</a:t>
            </a:r>
            <a:endParaRPr lang="en-US" sz="1200"/>
          </a:p>
        </p:txBody>
      </p:sp>
      <p:sp>
        <p:nvSpPr>
          <p:cNvPr id="20" name="Text 13"/>
          <p:cNvSpPr/>
          <p:nvPr/>
        </p:nvSpPr>
        <p:spPr>
          <a:xfrm>
            <a:off x="457200" y="4754880"/>
            <a:ext cx="8229600" cy="274320"/>
          </a:xfrm>
          <a:prstGeom prst="rect">
            <a:avLst/>
          </a:prstGeom>
          <a:noFill/>
          <a:ln/>
        </p:spPr>
        <p:txBody>
          <a:bodyPr wrap="square" lIns="0" tIns="0" rIns="0" bIns="0" rtlCol="0" anchor="ctr"/>
          <a:lstStyle/>
          <a:p>
            <a:pPr marL="0" indent="0" algn="l">
              <a:buNone/>
            </a:pPr>
            <a:r>
              <a:rPr lang="en-US" sz="900" i="1">
                <a:latin typeface="Calibri"/>
                <a:ea typeface="Calibri"/>
                <a:cs typeface="Calibri"/>
              </a:rPr>
              <a:t>Source: profit-matrix.com</a:t>
            </a:r>
            <a:endParaRPr lang="en-US" sz="900">
              <a:latin typeface="Calibri"/>
              <a:ea typeface="Calibri"/>
              <a:cs typeface="Calibri"/>
            </a:endParaRPr>
          </a:p>
        </p:txBody>
      </p:sp>
      <p:sp>
        <p:nvSpPr>
          <p:cNvPr id="22" name="TextBox 21">
            <a:extLst>
              <a:ext uri="{FF2B5EF4-FFF2-40B4-BE49-F238E27FC236}">
                <a16:creationId xmlns:a16="http://schemas.microsoft.com/office/drawing/2014/main" id="{15579975-ED3A-B207-FDB3-476FEEEAEEC3}"/>
              </a:ext>
            </a:extLst>
          </p:cNvPr>
          <p:cNvSpPr txBox="1"/>
          <p:nvPr/>
        </p:nvSpPr>
        <p:spPr>
          <a:xfrm>
            <a:off x="8542404" y="223231"/>
            <a:ext cx="380232" cy="553998"/>
          </a:xfrm>
          <a:prstGeom prst="rect">
            <a:avLst/>
          </a:prstGeom>
          <a:noFill/>
        </p:spPr>
        <p:txBody>
          <a:bodyPr wrap="none" lIns="91440" tIns="45720" rIns="91440" bIns="45720" rtlCol="0" anchor="t">
            <a:spAutoFit/>
          </a:bodyPr>
          <a:lstStyle/>
          <a:p>
            <a:r>
              <a:rPr lang="en-US" sz="3000">
                <a:solidFill>
                  <a:schemeClr val="bg1"/>
                </a:solidFill>
              </a:rPr>
              <a:t>3</a:t>
            </a:r>
            <a:endParaRPr lang="en-US"/>
          </a:p>
        </p:txBody>
      </p:sp>
    </p:spTree>
    <p:extLst>
      <p:ext uri="{BB962C8B-B14F-4D97-AF65-F5344CB8AC3E}">
        <p14:creationId xmlns:p14="http://schemas.microsoft.com/office/powerpoint/2010/main" val="1708576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37160" y="0"/>
            <a:ext cx="9006840" cy="914400"/>
          </a:xfrm>
          <a:prstGeom prst="rect">
            <a:avLst/>
          </a:prstGeom>
          <a:solidFill>
            <a:srgbClr val="1A2B5C"/>
          </a:solidFill>
          <a:ln w="12700">
            <a:solidFill>
              <a:srgbClr val="1A2B5C"/>
            </a:solidFill>
            <a:prstDash val="solid"/>
          </a:ln>
        </p:spPr>
        <p:txBody>
          <a:bodyPr/>
          <a:lstStyle/>
          <a:p>
            <a:endParaRPr lang="en-US"/>
          </a:p>
        </p:txBody>
      </p:sp>
      <p:sp>
        <p:nvSpPr>
          <p:cNvPr id="4" name="Text 2"/>
          <p:cNvSpPr/>
          <p:nvPr/>
        </p:nvSpPr>
        <p:spPr>
          <a:xfrm>
            <a:off x="411480" y="91440"/>
            <a:ext cx="8503920" cy="731520"/>
          </a:xfrm>
          <a:prstGeom prst="rect">
            <a:avLst/>
          </a:prstGeom>
          <a:noFill/>
          <a:ln/>
        </p:spPr>
        <p:txBody>
          <a:bodyPr wrap="square" lIns="0" tIns="0" rIns="0" bIns="0"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The Solution</a:t>
            </a:r>
            <a:endParaRPr lang="en-US" sz="2800"/>
          </a:p>
        </p:txBody>
      </p:sp>
      <p:sp>
        <p:nvSpPr>
          <p:cNvPr id="5" name="Text 3"/>
          <p:cNvSpPr/>
          <p:nvPr/>
        </p:nvSpPr>
        <p:spPr>
          <a:xfrm>
            <a:off x="457200" y="1051560"/>
            <a:ext cx="8229600" cy="365760"/>
          </a:xfrm>
          <a:prstGeom prst="rect">
            <a:avLst/>
          </a:prstGeom>
          <a:noFill/>
          <a:ln/>
        </p:spPr>
        <p:txBody>
          <a:bodyPr wrap="square" lIns="0" tIns="0" rIns="0" bIns="0" rtlCol="0" anchor="ctr"/>
          <a:lstStyle/>
          <a:p>
            <a:pPr marL="0" indent="0" algn="l">
              <a:buNone/>
            </a:pPr>
            <a:r>
              <a:rPr lang="en-US" sz="1600" i="1">
                <a:solidFill>
                  <a:srgbClr val="64748B"/>
                </a:solidFill>
                <a:latin typeface="Calibri" pitchFamily="34" charset="0"/>
                <a:ea typeface="Calibri" pitchFamily="34" charset="-122"/>
                <a:cs typeface="Calibri" pitchFamily="34" charset="-120"/>
              </a:rPr>
              <a:t>Three models. One dashboard.</a:t>
            </a:r>
            <a:endParaRPr lang="en-US" sz="1600"/>
          </a:p>
        </p:txBody>
      </p:sp>
      <p:sp>
        <p:nvSpPr>
          <p:cNvPr id="6" name="Shape 4"/>
          <p:cNvSpPr/>
          <p:nvPr/>
        </p:nvSpPr>
        <p:spPr>
          <a:xfrm>
            <a:off x="452628" y="1554480"/>
            <a:ext cx="2606040" cy="233172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2628" y="1554480"/>
            <a:ext cx="2606040" cy="960120"/>
          </a:xfrm>
          <a:prstGeom prst="rect">
            <a:avLst/>
          </a:prstGeom>
          <a:solidFill>
            <a:srgbClr val="0D9488"/>
          </a:solidFill>
          <a:ln w="12700">
            <a:solidFill>
              <a:srgbClr val="0D948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463040" y="1737360"/>
            <a:ext cx="585216" cy="585216"/>
          </a:xfrm>
          <a:prstGeom prst="rect">
            <a:avLst/>
          </a:prstGeom>
        </p:spPr>
      </p:pic>
      <p:sp>
        <p:nvSpPr>
          <p:cNvPr id="9" name="Text 6"/>
          <p:cNvSpPr/>
          <p:nvPr/>
        </p:nvSpPr>
        <p:spPr>
          <a:xfrm>
            <a:off x="589788" y="2651760"/>
            <a:ext cx="2331720" cy="41148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Smart Clustering</a:t>
            </a:r>
            <a:endParaRPr lang="en-US" sz="1600"/>
          </a:p>
        </p:txBody>
      </p:sp>
      <p:sp>
        <p:nvSpPr>
          <p:cNvPr id="10" name="Text 7"/>
          <p:cNvSpPr/>
          <p:nvPr/>
        </p:nvSpPr>
        <p:spPr>
          <a:xfrm>
            <a:off x="635508" y="3063240"/>
            <a:ext cx="2240280" cy="777240"/>
          </a:xfrm>
          <a:prstGeom prst="rect">
            <a:avLst/>
          </a:prstGeom>
          <a:noFill/>
          <a:ln/>
        </p:spPr>
        <p:txBody>
          <a:bodyPr wrap="square" lIns="0" tIns="0" rIns="0" bIns="0" rtlCol="0" anchor="t"/>
          <a:lstStyle/>
          <a:p>
            <a:pPr marL="0" indent="0" algn="ctr">
              <a:buNone/>
            </a:pPr>
            <a:r>
              <a:rPr lang="en-US" sz="1200">
                <a:solidFill>
                  <a:srgbClr val="000000"/>
                </a:solidFill>
                <a:latin typeface="Calibri" pitchFamily="34" charset="0"/>
                <a:ea typeface="Calibri" pitchFamily="34" charset="-122"/>
                <a:cs typeface="Calibri" pitchFamily="34" charset="-120"/>
              </a:rPr>
              <a:t>Separates profit drivers from profit leaks using 80/20.</a:t>
            </a:r>
            <a:endParaRPr lang="en-US" sz="1200">
              <a:solidFill>
                <a:srgbClr val="000000"/>
              </a:solidFill>
            </a:endParaRPr>
          </a:p>
        </p:txBody>
      </p:sp>
      <p:sp>
        <p:nvSpPr>
          <p:cNvPr id="11" name="Shape 8"/>
          <p:cNvSpPr/>
          <p:nvPr/>
        </p:nvSpPr>
        <p:spPr>
          <a:xfrm>
            <a:off x="3268980" y="1554480"/>
            <a:ext cx="2606040" cy="2331720"/>
          </a:xfrm>
          <a:prstGeom prst="rect">
            <a:avLst/>
          </a:prstGeom>
          <a:solidFill>
            <a:srgbClr val="FFFFFF"/>
          </a:solidFill>
          <a:ln w="9525">
            <a:solidFill>
              <a:srgbClr val="E2E8F0"/>
            </a:solidFill>
            <a:prstDash val="solid"/>
          </a:ln>
        </p:spPr>
        <p:txBody>
          <a:bodyPr/>
          <a:lstStyle/>
          <a:p>
            <a:endParaRPr lang="en-US"/>
          </a:p>
        </p:txBody>
      </p:sp>
      <p:sp>
        <p:nvSpPr>
          <p:cNvPr id="12" name="Shape 9"/>
          <p:cNvSpPr/>
          <p:nvPr/>
        </p:nvSpPr>
        <p:spPr>
          <a:xfrm>
            <a:off x="3268980" y="1554480"/>
            <a:ext cx="2606040" cy="960120"/>
          </a:xfrm>
          <a:prstGeom prst="rect">
            <a:avLst/>
          </a:prstGeom>
          <a:solidFill>
            <a:srgbClr val="0D9488"/>
          </a:solidFill>
          <a:ln w="12700">
            <a:solidFill>
              <a:srgbClr val="0D948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4279392" y="1737360"/>
            <a:ext cx="585216" cy="585216"/>
          </a:xfrm>
          <a:prstGeom prst="rect">
            <a:avLst/>
          </a:prstGeom>
        </p:spPr>
      </p:pic>
      <p:sp>
        <p:nvSpPr>
          <p:cNvPr id="14" name="Text 10"/>
          <p:cNvSpPr/>
          <p:nvPr/>
        </p:nvSpPr>
        <p:spPr>
          <a:xfrm>
            <a:off x="3406140" y="2651760"/>
            <a:ext cx="2331720" cy="41148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Churn Detection</a:t>
            </a:r>
            <a:endParaRPr lang="en-US" sz="1600"/>
          </a:p>
        </p:txBody>
      </p:sp>
      <p:sp>
        <p:nvSpPr>
          <p:cNvPr id="15" name="Text 11"/>
          <p:cNvSpPr/>
          <p:nvPr/>
        </p:nvSpPr>
        <p:spPr>
          <a:xfrm>
            <a:off x="3451860" y="3063240"/>
            <a:ext cx="2240280" cy="777240"/>
          </a:xfrm>
          <a:prstGeom prst="rect">
            <a:avLst/>
          </a:prstGeom>
          <a:noFill/>
          <a:ln/>
        </p:spPr>
        <p:txBody>
          <a:bodyPr wrap="square" lIns="0" tIns="0" rIns="0" bIns="0" rtlCol="0" anchor="t"/>
          <a:lstStyle/>
          <a:p>
            <a:pPr marL="0" indent="0" algn="ctr">
              <a:buNone/>
            </a:pPr>
            <a:r>
              <a:rPr lang="en-US" sz="1200">
                <a:solidFill>
                  <a:srgbClr val="000000"/>
                </a:solidFill>
                <a:latin typeface="Calibri" pitchFamily="34" charset="0"/>
                <a:ea typeface="Calibri" pitchFamily="34" charset="-122"/>
                <a:cs typeface="Calibri" pitchFamily="34" charset="-120"/>
              </a:rPr>
              <a:t>Flags at-risk customers via RFM before revenue disappears.</a:t>
            </a:r>
            <a:endParaRPr lang="en-US" sz="1200">
              <a:solidFill>
                <a:srgbClr val="000000"/>
              </a:solidFill>
            </a:endParaRPr>
          </a:p>
        </p:txBody>
      </p:sp>
      <p:sp>
        <p:nvSpPr>
          <p:cNvPr id="16" name="Shape 12"/>
          <p:cNvSpPr/>
          <p:nvPr/>
        </p:nvSpPr>
        <p:spPr>
          <a:xfrm>
            <a:off x="6085332" y="1554480"/>
            <a:ext cx="2606040" cy="2331720"/>
          </a:xfrm>
          <a:prstGeom prst="rect">
            <a:avLst/>
          </a:prstGeom>
          <a:solidFill>
            <a:srgbClr val="FFFFFF"/>
          </a:solidFill>
          <a:ln w="9525">
            <a:solidFill>
              <a:srgbClr val="E2E8F0"/>
            </a:solidFill>
            <a:prstDash val="solid"/>
          </a:ln>
        </p:spPr>
        <p:txBody>
          <a:bodyPr/>
          <a:lstStyle/>
          <a:p>
            <a:endParaRPr lang="en-US"/>
          </a:p>
        </p:txBody>
      </p:sp>
      <p:sp>
        <p:nvSpPr>
          <p:cNvPr id="17" name="Shape 13"/>
          <p:cNvSpPr/>
          <p:nvPr/>
        </p:nvSpPr>
        <p:spPr>
          <a:xfrm>
            <a:off x="6085332" y="1554480"/>
            <a:ext cx="2606040" cy="960120"/>
          </a:xfrm>
          <a:prstGeom prst="rect">
            <a:avLst/>
          </a:prstGeom>
          <a:solidFill>
            <a:srgbClr val="0D9488"/>
          </a:solidFill>
          <a:ln w="12700">
            <a:solidFill>
              <a:srgbClr val="0D9488"/>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7095744" y="1737360"/>
            <a:ext cx="585216" cy="585216"/>
          </a:xfrm>
          <a:prstGeom prst="rect">
            <a:avLst/>
          </a:prstGeom>
        </p:spPr>
      </p:pic>
      <p:sp>
        <p:nvSpPr>
          <p:cNvPr id="19" name="Text 14"/>
          <p:cNvSpPr/>
          <p:nvPr/>
        </p:nvSpPr>
        <p:spPr>
          <a:xfrm>
            <a:off x="6222492" y="2651760"/>
            <a:ext cx="2331720" cy="41148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Margin Forecasting</a:t>
            </a:r>
            <a:endParaRPr lang="en-US" sz="1600"/>
          </a:p>
        </p:txBody>
      </p:sp>
      <p:sp>
        <p:nvSpPr>
          <p:cNvPr id="20" name="Text 15"/>
          <p:cNvSpPr/>
          <p:nvPr/>
        </p:nvSpPr>
        <p:spPr>
          <a:xfrm>
            <a:off x="6268212" y="3063240"/>
            <a:ext cx="2240280" cy="777240"/>
          </a:xfrm>
          <a:prstGeom prst="rect">
            <a:avLst/>
          </a:prstGeom>
          <a:noFill/>
          <a:ln/>
        </p:spPr>
        <p:txBody>
          <a:bodyPr wrap="square" lIns="0" tIns="0" rIns="0" bIns="0" rtlCol="0" anchor="t"/>
          <a:lstStyle/>
          <a:p>
            <a:pPr marL="0" indent="0" algn="ctr">
              <a:buNone/>
            </a:pPr>
            <a:r>
              <a:rPr lang="en-US" sz="1200">
                <a:solidFill>
                  <a:srgbClr val="000000"/>
                </a:solidFill>
                <a:latin typeface="Calibri" pitchFamily="34" charset="0"/>
                <a:ea typeface="Calibri" pitchFamily="34" charset="-122"/>
                <a:cs typeface="Calibri" pitchFamily="34" charset="-120"/>
              </a:rPr>
              <a:t>Predicts which products face margin squeeze next quarter.</a:t>
            </a:r>
            <a:endParaRPr lang="en-US" sz="1200">
              <a:solidFill>
                <a:srgbClr val="000000"/>
              </a:solidFill>
            </a:endParaRPr>
          </a:p>
        </p:txBody>
      </p:sp>
      <p:sp>
        <p:nvSpPr>
          <p:cNvPr id="21" name="Shape 16"/>
          <p:cNvSpPr/>
          <p:nvPr/>
        </p:nvSpPr>
        <p:spPr>
          <a:xfrm>
            <a:off x="457200" y="4160520"/>
            <a:ext cx="8229600" cy="594360"/>
          </a:xfrm>
          <a:prstGeom prst="rect">
            <a:avLst/>
          </a:prstGeom>
          <a:solidFill>
            <a:srgbClr val="1A2B5C"/>
          </a:solidFill>
          <a:ln w="12700">
            <a:solidFill>
              <a:srgbClr val="1A2B5C"/>
            </a:solidFill>
            <a:prstDash val="solid"/>
          </a:ln>
        </p:spPr>
        <p:txBody>
          <a:bodyPr/>
          <a:lstStyle/>
          <a:p>
            <a:endParaRPr lang="en-US"/>
          </a:p>
        </p:txBody>
      </p:sp>
      <p:sp>
        <p:nvSpPr>
          <p:cNvPr id="22" name="Text 17"/>
          <p:cNvSpPr/>
          <p:nvPr/>
        </p:nvSpPr>
        <p:spPr>
          <a:xfrm>
            <a:off x="457200" y="4160520"/>
            <a:ext cx="8229600" cy="594360"/>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All three feed one dashboard  </a:t>
            </a:r>
            <a:r>
              <a:rPr lang="en-US" sz="1400">
                <a:solidFill>
                  <a:srgbClr val="FFFFFF"/>
                </a:solidFill>
                <a:latin typeface="Calibri" pitchFamily="34" charset="0"/>
                <a:ea typeface="Calibri" pitchFamily="34" charset="-122"/>
                <a:cs typeface="Calibri" pitchFamily="34" charset="-120"/>
              </a:rPr>
              <a:t>·  alerts  ·  drill-downs  ·  audit trail</a:t>
            </a:r>
            <a:endParaRPr lang="en-US" sz="1400">
              <a:solidFill>
                <a:srgbClr val="FFFFFF"/>
              </a:solidFill>
            </a:endParaRPr>
          </a:p>
        </p:txBody>
      </p:sp>
      <p:sp>
        <p:nvSpPr>
          <p:cNvPr id="24" name="TextBox 23">
            <a:extLst>
              <a:ext uri="{FF2B5EF4-FFF2-40B4-BE49-F238E27FC236}">
                <a16:creationId xmlns:a16="http://schemas.microsoft.com/office/drawing/2014/main" id="{FF01D474-AF25-0D45-837E-1A1828E6EB85}"/>
              </a:ext>
            </a:extLst>
          </p:cNvPr>
          <p:cNvSpPr txBox="1"/>
          <p:nvPr/>
        </p:nvSpPr>
        <p:spPr>
          <a:xfrm>
            <a:off x="8542404" y="223231"/>
            <a:ext cx="380232" cy="553998"/>
          </a:xfrm>
          <a:prstGeom prst="rect">
            <a:avLst/>
          </a:prstGeom>
          <a:noFill/>
        </p:spPr>
        <p:txBody>
          <a:bodyPr wrap="none" lIns="91440" tIns="45720" rIns="91440" bIns="45720" rtlCol="0" anchor="t">
            <a:spAutoFit/>
          </a:bodyPr>
          <a:lstStyle/>
          <a:p>
            <a:r>
              <a:rPr lang="en-US" sz="3000">
                <a:solidFill>
                  <a:schemeClr val="bg1"/>
                </a:solidFill>
              </a:rPr>
              <a:t>4</a:t>
            </a:r>
            <a:endParaRPr lang="en-US" sz="3000">
              <a:solidFill>
                <a:schemeClr val="bg1"/>
              </a:solidFill>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137160" y="0"/>
            <a:ext cx="9006840" cy="914400"/>
          </a:xfrm>
          <a:prstGeom prst="rect">
            <a:avLst/>
          </a:prstGeom>
          <a:solidFill>
            <a:srgbClr val="1A2B5C"/>
          </a:solidFill>
          <a:ln w="12700">
            <a:solidFill>
              <a:srgbClr val="1A2B5C"/>
            </a:solidFill>
            <a:prstDash val="solid"/>
          </a:ln>
        </p:spPr>
        <p:txBody>
          <a:bodyPr/>
          <a:lstStyle/>
          <a:p>
            <a:endParaRPr lang="en-US"/>
          </a:p>
        </p:txBody>
      </p:sp>
      <p:sp>
        <p:nvSpPr>
          <p:cNvPr id="4" name="Text 2"/>
          <p:cNvSpPr/>
          <p:nvPr/>
        </p:nvSpPr>
        <p:spPr>
          <a:xfrm>
            <a:off x="411480" y="91440"/>
            <a:ext cx="8503920" cy="731520"/>
          </a:xfrm>
          <a:prstGeom prst="rect">
            <a:avLst/>
          </a:prstGeom>
          <a:noFill/>
          <a:ln/>
        </p:spPr>
        <p:txBody>
          <a:bodyPr wrap="square" lIns="0" tIns="0" rIns="0" bIns="0" rtlCol="0" anchor="ctr"/>
          <a:lstStyle/>
          <a:p>
            <a:pPr marL="0" indent="0" algn="l">
              <a:buNone/>
            </a:pPr>
            <a:r>
              <a:rPr lang="en-US" sz="2800" b="1">
                <a:solidFill>
                  <a:srgbClr val="FFFFFF"/>
                </a:solidFill>
                <a:latin typeface="Calibri" pitchFamily="34" charset="0"/>
                <a:ea typeface="Calibri" pitchFamily="34" charset="-122"/>
                <a:cs typeface="Calibri" pitchFamily="34" charset="-120"/>
              </a:rPr>
              <a:t>Agenda</a:t>
            </a:r>
            <a:endParaRPr lang="en-US" sz="2800"/>
          </a:p>
        </p:txBody>
      </p:sp>
      <p:sp>
        <p:nvSpPr>
          <p:cNvPr id="5" name="Text 3"/>
          <p:cNvSpPr/>
          <p:nvPr/>
        </p:nvSpPr>
        <p:spPr>
          <a:xfrm>
            <a:off x="457200" y="1051560"/>
            <a:ext cx="8229600" cy="365760"/>
          </a:xfrm>
          <a:prstGeom prst="rect">
            <a:avLst/>
          </a:prstGeom>
          <a:noFill/>
          <a:ln/>
        </p:spPr>
        <p:txBody>
          <a:bodyPr wrap="square" lIns="0" tIns="0" rIns="0" bIns="0" rtlCol="0" anchor="ctr"/>
          <a:lstStyle/>
          <a:p>
            <a:pPr marL="0" indent="0" algn="l">
              <a:buNone/>
            </a:pPr>
            <a:r>
              <a:rPr lang="en-US" sz="1600" i="1">
                <a:solidFill>
                  <a:srgbClr val="64748B"/>
                </a:solidFill>
                <a:latin typeface="Calibri" pitchFamily="34" charset="0"/>
                <a:ea typeface="Calibri" pitchFamily="34" charset="-122"/>
                <a:cs typeface="Calibri" pitchFamily="34" charset="-120"/>
              </a:rPr>
              <a:t>What we'll walk through</a:t>
            </a:r>
            <a:endParaRPr lang="en-US" sz="1600"/>
          </a:p>
        </p:txBody>
      </p:sp>
      <p:sp>
        <p:nvSpPr>
          <p:cNvPr id="6" name="Shape 4"/>
          <p:cNvSpPr/>
          <p:nvPr/>
        </p:nvSpPr>
        <p:spPr>
          <a:xfrm>
            <a:off x="310896" y="1554480"/>
            <a:ext cx="1572768" cy="278892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310896" y="1554480"/>
            <a:ext cx="1572768" cy="1051560"/>
          </a:xfrm>
          <a:prstGeom prst="rect">
            <a:avLst/>
          </a:prstGeom>
          <a:solidFill>
            <a:srgbClr val="0D9488"/>
          </a:solidFill>
          <a:ln w="12700">
            <a:solidFill>
              <a:srgbClr val="0D948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768096" y="1755648"/>
            <a:ext cx="658368" cy="658368"/>
          </a:xfrm>
          <a:prstGeom prst="rect">
            <a:avLst/>
          </a:prstGeom>
        </p:spPr>
      </p:pic>
      <p:sp>
        <p:nvSpPr>
          <p:cNvPr id="9" name="Shape 6"/>
          <p:cNvSpPr/>
          <p:nvPr/>
        </p:nvSpPr>
        <p:spPr>
          <a:xfrm>
            <a:off x="800100" y="2414016"/>
            <a:ext cx="594360" cy="384048"/>
          </a:xfrm>
          <a:prstGeom prst="rect">
            <a:avLst/>
          </a:prstGeom>
          <a:solidFill>
            <a:srgbClr val="1A2B5C"/>
          </a:solidFill>
          <a:ln w="12700">
            <a:solidFill>
              <a:srgbClr val="1A2B5C"/>
            </a:solidFill>
            <a:prstDash val="solid"/>
          </a:ln>
        </p:spPr>
        <p:txBody>
          <a:bodyPr/>
          <a:lstStyle/>
          <a:p>
            <a:endParaRPr lang="en-US"/>
          </a:p>
        </p:txBody>
      </p:sp>
      <p:sp>
        <p:nvSpPr>
          <p:cNvPr id="10" name="Text 7"/>
          <p:cNvSpPr/>
          <p:nvPr/>
        </p:nvSpPr>
        <p:spPr>
          <a:xfrm>
            <a:off x="800100" y="2414016"/>
            <a:ext cx="594360"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01</a:t>
            </a:r>
            <a:endParaRPr lang="en-US" sz="1400"/>
          </a:p>
        </p:txBody>
      </p:sp>
      <p:sp>
        <p:nvSpPr>
          <p:cNvPr id="11" name="Text 8"/>
          <p:cNvSpPr/>
          <p:nvPr/>
        </p:nvSpPr>
        <p:spPr>
          <a:xfrm>
            <a:off x="402336" y="2971800"/>
            <a:ext cx="1389888" cy="45720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Architecture</a:t>
            </a:r>
            <a:endParaRPr lang="en-US" sz="1600"/>
          </a:p>
        </p:txBody>
      </p:sp>
      <p:sp>
        <p:nvSpPr>
          <p:cNvPr id="12" name="Text 9"/>
          <p:cNvSpPr/>
          <p:nvPr/>
        </p:nvSpPr>
        <p:spPr>
          <a:xfrm>
            <a:off x="448056" y="3429000"/>
            <a:ext cx="1298448" cy="868680"/>
          </a:xfrm>
          <a:prstGeom prst="rect">
            <a:avLst/>
          </a:prstGeom>
          <a:noFill/>
          <a:ln/>
        </p:spPr>
        <p:txBody>
          <a:bodyPr wrap="square" lIns="0" tIns="0" rIns="0" bIns="0" rtlCol="0" anchor="t"/>
          <a:lstStyle/>
          <a:p>
            <a:pPr marL="0" indent="0" algn="ctr">
              <a:buNone/>
            </a:pPr>
            <a:r>
              <a:rPr lang="en-US" sz="1100">
                <a:solidFill>
                  <a:srgbClr val="000000"/>
                </a:solidFill>
                <a:latin typeface="Calibri" pitchFamily="34" charset="0"/>
                <a:ea typeface="Calibri" pitchFamily="34" charset="-122"/>
                <a:cs typeface="Calibri" pitchFamily="34" charset="-120"/>
              </a:rPr>
              <a:t>How the system is wired — from user prompt to model output.</a:t>
            </a:r>
            <a:endParaRPr lang="en-US" sz="1100">
              <a:solidFill>
                <a:srgbClr val="000000"/>
              </a:solidFill>
            </a:endParaRPr>
          </a:p>
        </p:txBody>
      </p:sp>
      <p:sp>
        <p:nvSpPr>
          <p:cNvPr id="13" name="Shape 10"/>
          <p:cNvSpPr/>
          <p:nvPr/>
        </p:nvSpPr>
        <p:spPr>
          <a:xfrm>
            <a:off x="2048256" y="1554480"/>
            <a:ext cx="1572768" cy="2788920"/>
          </a:xfrm>
          <a:prstGeom prst="rect">
            <a:avLst/>
          </a:prstGeom>
          <a:solidFill>
            <a:srgbClr val="FFFFFF"/>
          </a:solidFill>
          <a:ln w="9525">
            <a:solidFill>
              <a:srgbClr val="E2E8F0"/>
            </a:solidFill>
            <a:prstDash val="solid"/>
          </a:ln>
        </p:spPr>
        <p:txBody>
          <a:bodyPr/>
          <a:lstStyle/>
          <a:p>
            <a:endParaRPr lang="en-US"/>
          </a:p>
        </p:txBody>
      </p:sp>
      <p:sp>
        <p:nvSpPr>
          <p:cNvPr id="14" name="Shape 11"/>
          <p:cNvSpPr/>
          <p:nvPr/>
        </p:nvSpPr>
        <p:spPr>
          <a:xfrm>
            <a:off x="2048256" y="1554480"/>
            <a:ext cx="1572768" cy="1051560"/>
          </a:xfrm>
          <a:prstGeom prst="rect">
            <a:avLst/>
          </a:prstGeom>
          <a:solidFill>
            <a:srgbClr val="0D9488"/>
          </a:solidFill>
          <a:ln w="12700">
            <a:solidFill>
              <a:srgbClr val="0D9488"/>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2505456" y="1755648"/>
            <a:ext cx="658368" cy="658368"/>
          </a:xfrm>
          <a:prstGeom prst="rect">
            <a:avLst/>
          </a:prstGeom>
        </p:spPr>
      </p:pic>
      <p:sp>
        <p:nvSpPr>
          <p:cNvPr id="16" name="Shape 12"/>
          <p:cNvSpPr/>
          <p:nvPr/>
        </p:nvSpPr>
        <p:spPr>
          <a:xfrm>
            <a:off x="2537460" y="2414016"/>
            <a:ext cx="594360" cy="384048"/>
          </a:xfrm>
          <a:prstGeom prst="rect">
            <a:avLst/>
          </a:prstGeom>
          <a:solidFill>
            <a:srgbClr val="1A2B5C"/>
          </a:solidFill>
          <a:ln w="12700">
            <a:solidFill>
              <a:srgbClr val="1A2B5C"/>
            </a:solidFill>
            <a:prstDash val="solid"/>
          </a:ln>
        </p:spPr>
        <p:txBody>
          <a:bodyPr/>
          <a:lstStyle/>
          <a:p>
            <a:endParaRPr lang="en-US"/>
          </a:p>
        </p:txBody>
      </p:sp>
      <p:sp>
        <p:nvSpPr>
          <p:cNvPr id="17" name="Text 13"/>
          <p:cNvSpPr/>
          <p:nvPr/>
        </p:nvSpPr>
        <p:spPr>
          <a:xfrm>
            <a:off x="2537460" y="2414016"/>
            <a:ext cx="594360"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02</a:t>
            </a:r>
            <a:endParaRPr lang="en-US" sz="1400"/>
          </a:p>
        </p:txBody>
      </p:sp>
      <p:sp>
        <p:nvSpPr>
          <p:cNvPr id="18" name="Text 14"/>
          <p:cNvSpPr/>
          <p:nvPr/>
        </p:nvSpPr>
        <p:spPr>
          <a:xfrm>
            <a:off x="2139696" y="2971800"/>
            <a:ext cx="1389888" cy="45720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Cluster Model</a:t>
            </a:r>
            <a:endParaRPr lang="en-US" sz="1600"/>
          </a:p>
        </p:txBody>
      </p:sp>
      <p:sp>
        <p:nvSpPr>
          <p:cNvPr id="19" name="Text 15"/>
          <p:cNvSpPr/>
          <p:nvPr/>
        </p:nvSpPr>
        <p:spPr>
          <a:xfrm>
            <a:off x="2185416" y="3429000"/>
            <a:ext cx="1298448" cy="868680"/>
          </a:xfrm>
          <a:prstGeom prst="rect">
            <a:avLst/>
          </a:prstGeom>
          <a:noFill/>
          <a:ln/>
        </p:spPr>
        <p:txBody>
          <a:bodyPr wrap="square" lIns="0" tIns="0" rIns="0" bIns="0" rtlCol="0" anchor="t"/>
          <a:lstStyle/>
          <a:p>
            <a:pPr marL="0" indent="0" algn="ctr">
              <a:buNone/>
            </a:pPr>
            <a:r>
              <a:rPr lang="en-US" sz="1100">
                <a:solidFill>
                  <a:srgbClr val="000000"/>
                </a:solidFill>
                <a:latin typeface="Calibri" pitchFamily="34" charset="0"/>
                <a:ea typeface="Calibri" pitchFamily="34" charset="-122"/>
                <a:cs typeface="Calibri" pitchFamily="34" charset="-120"/>
              </a:rPr>
              <a:t>Customer segmentation — Grow, Defend, Review, Optimize.</a:t>
            </a:r>
            <a:endParaRPr lang="en-US" sz="1100">
              <a:solidFill>
                <a:srgbClr val="000000"/>
              </a:solidFill>
            </a:endParaRPr>
          </a:p>
        </p:txBody>
      </p:sp>
      <p:sp>
        <p:nvSpPr>
          <p:cNvPr id="20" name="Shape 16"/>
          <p:cNvSpPr/>
          <p:nvPr/>
        </p:nvSpPr>
        <p:spPr>
          <a:xfrm>
            <a:off x="3785616" y="1554480"/>
            <a:ext cx="1572768" cy="2788920"/>
          </a:xfrm>
          <a:prstGeom prst="rect">
            <a:avLst/>
          </a:prstGeom>
          <a:solidFill>
            <a:srgbClr val="FFFFFF"/>
          </a:solidFill>
          <a:ln w="9525">
            <a:solidFill>
              <a:srgbClr val="E2E8F0"/>
            </a:solidFill>
            <a:prstDash val="solid"/>
          </a:ln>
        </p:spPr>
        <p:txBody>
          <a:bodyPr/>
          <a:lstStyle/>
          <a:p>
            <a:endParaRPr lang="en-US"/>
          </a:p>
        </p:txBody>
      </p:sp>
      <p:sp>
        <p:nvSpPr>
          <p:cNvPr id="21" name="Shape 17"/>
          <p:cNvSpPr/>
          <p:nvPr/>
        </p:nvSpPr>
        <p:spPr>
          <a:xfrm>
            <a:off x="3785616" y="1554480"/>
            <a:ext cx="1572768" cy="1051560"/>
          </a:xfrm>
          <a:prstGeom prst="rect">
            <a:avLst/>
          </a:prstGeom>
          <a:solidFill>
            <a:srgbClr val="0D9488"/>
          </a:solidFill>
          <a:ln w="12700">
            <a:solidFill>
              <a:srgbClr val="0D9488"/>
            </a:solidFill>
            <a:prstDash val="solid"/>
          </a:ln>
        </p:spPr>
        <p:txBody>
          <a:bodyPr/>
          <a:lstStyle/>
          <a:p>
            <a:endParaRPr lang="en-US"/>
          </a:p>
        </p:txBody>
      </p:sp>
      <p:pic>
        <p:nvPicPr>
          <p:cNvPr id="22" name="Image 2" descr="preencoded.png"/>
          <p:cNvPicPr>
            <a:picLocks noChangeAspect="1"/>
          </p:cNvPicPr>
          <p:nvPr/>
        </p:nvPicPr>
        <p:blipFill>
          <a:blip r:embed="rId5"/>
          <a:stretch>
            <a:fillRect/>
          </a:stretch>
        </p:blipFill>
        <p:spPr>
          <a:xfrm>
            <a:off x="4242816" y="1755648"/>
            <a:ext cx="658368" cy="658368"/>
          </a:xfrm>
          <a:prstGeom prst="rect">
            <a:avLst/>
          </a:prstGeom>
        </p:spPr>
      </p:pic>
      <p:sp>
        <p:nvSpPr>
          <p:cNvPr id="23" name="Shape 18"/>
          <p:cNvSpPr/>
          <p:nvPr/>
        </p:nvSpPr>
        <p:spPr>
          <a:xfrm>
            <a:off x="4274820" y="2414016"/>
            <a:ext cx="594360" cy="384048"/>
          </a:xfrm>
          <a:prstGeom prst="rect">
            <a:avLst/>
          </a:prstGeom>
          <a:solidFill>
            <a:srgbClr val="1A2B5C"/>
          </a:solidFill>
          <a:ln w="12700">
            <a:solidFill>
              <a:srgbClr val="1A2B5C"/>
            </a:solidFill>
            <a:prstDash val="solid"/>
          </a:ln>
        </p:spPr>
        <p:txBody>
          <a:bodyPr/>
          <a:lstStyle/>
          <a:p>
            <a:endParaRPr lang="en-US"/>
          </a:p>
        </p:txBody>
      </p:sp>
      <p:sp>
        <p:nvSpPr>
          <p:cNvPr id="24" name="Text 19"/>
          <p:cNvSpPr/>
          <p:nvPr/>
        </p:nvSpPr>
        <p:spPr>
          <a:xfrm>
            <a:off x="4274820" y="2414016"/>
            <a:ext cx="594360"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03</a:t>
            </a:r>
            <a:endParaRPr lang="en-US" sz="1400"/>
          </a:p>
        </p:txBody>
      </p:sp>
      <p:sp>
        <p:nvSpPr>
          <p:cNvPr id="25" name="Text 20"/>
          <p:cNvSpPr/>
          <p:nvPr/>
        </p:nvSpPr>
        <p:spPr>
          <a:xfrm>
            <a:off x="3877056" y="2971800"/>
            <a:ext cx="1389888" cy="45720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Forecasting Model</a:t>
            </a:r>
            <a:endParaRPr lang="en-US" sz="1600"/>
          </a:p>
        </p:txBody>
      </p:sp>
      <p:sp>
        <p:nvSpPr>
          <p:cNvPr id="26" name="Text 21"/>
          <p:cNvSpPr/>
          <p:nvPr/>
        </p:nvSpPr>
        <p:spPr>
          <a:xfrm>
            <a:off x="3922776" y="3429000"/>
            <a:ext cx="1298448" cy="868680"/>
          </a:xfrm>
          <a:prstGeom prst="rect">
            <a:avLst/>
          </a:prstGeom>
          <a:noFill/>
          <a:ln/>
        </p:spPr>
        <p:txBody>
          <a:bodyPr wrap="square" lIns="0" tIns="0" rIns="0" bIns="0" rtlCol="0" anchor="t"/>
          <a:lstStyle/>
          <a:p>
            <a:pPr marL="0" indent="0" algn="ctr">
              <a:buNone/>
            </a:pPr>
            <a:r>
              <a:rPr lang="en-US" sz="1100">
                <a:solidFill>
                  <a:srgbClr val="000000"/>
                </a:solidFill>
                <a:latin typeface="Calibri" pitchFamily="34" charset="0"/>
                <a:ea typeface="Calibri" pitchFamily="34" charset="-122"/>
                <a:cs typeface="Calibri" pitchFamily="34" charset="-120"/>
              </a:rPr>
              <a:t>Predicting margin compression before it shows up in the P&amp;L.</a:t>
            </a:r>
            <a:endParaRPr lang="en-US" sz="1100">
              <a:solidFill>
                <a:srgbClr val="000000"/>
              </a:solidFill>
            </a:endParaRPr>
          </a:p>
        </p:txBody>
      </p:sp>
      <p:sp>
        <p:nvSpPr>
          <p:cNvPr id="27" name="Shape 22"/>
          <p:cNvSpPr/>
          <p:nvPr/>
        </p:nvSpPr>
        <p:spPr>
          <a:xfrm>
            <a:off x="5522976" y="1554480"/>
            <a:ext cx="1572768" cy="2788920"/>
          </a:xfrm>
          <a:prstGeom prst="rect">
            <a:avLst/>
          </a:prstGeom>
          <a:solidFill>
            <a:srgbClr val="FFFFFF"/>
          </a:solidFill>
          <a:ln w="9525">
            <a:solidFill>
              <a:srgbClr val="E2E8F0"/>
            </a:solidFill>
            <a:prstDash val="solid"/>
          </a:ln>
        </p:spPr>
        <p:txBody>
          <a:bodyPr/>
          <a:lstStyle/>
          <a:p>
            <a:endParaRPr lang="en-US"/>
          </a:p>
        </p:txBody>
      </p:sp>
      <p:sp>
        <p:nvSpPr>
          <p:cNvPr id="28" name="Shape 23"/>
          <p:cNvSpPr/>
          <p:nvPr/>
        </p:nvSpPr>
        <p:spPr>
          <a:xfrm>
            <a:off x="5522976" y="1554480"/>
            <a:ext cx="1572768" cy="1051560"/>
          </a:xfrm>
          <a:prstGeom prst="rect">
            <a:avLst/>
          </a:prstGeom>
          <a:solidFill>
            <a:srgbClr val="0D9488"/>
          </a:solidFill>
          <a:ln w="12700">
            <a:solidFill>
              <a:srgbClr val="0D9488"/>
            </a:solidFill>
            <a:prstDash val="solid"/>
          </a:ln>
        </p:spPr>
        <p:txBody>
          <a:bodyPr/>
          <a:lstStyle/>
          <a:p>
            <a:endParaRPr lang="en-US"/>
          </a:p>
        </p:txBody>
      </p:sp>
      <p:pic>
        <p:nvPicPr>
          <p:cNvPr id="29" name="Image 3" descr="preencoded.png"/>
          <p:cNvPicPr>
            <a:picLocks noChangeAspect="1"/>
          </p:cNvPicPr>
          <p:nvPr/>
        </p:nvPicPr>
        <p:blipFill>
          <a:blip r:embed="rId6"/>
          <a:stretch>
            <a:fillRect/>
          </a:stretch>
        </p:blipFill>
        <p:spPr>
          <a:xfrm>
            <a:off x="5980176" y="1755648"/>
            <a:ext cx="658368" cy="658368"/>
          </a:xfrm>
          <a:prstGeom prst="rect">
            <a:avLst/>
          </a:prstGeom>
        </p:spPr>
      </p:pic>
      <p:sp>
        <p:nvSpPr>
          <p:cNvPr id="30" name="Shape 24"/>
          <p:cNvSpPr/>
          <p:nvPr/>
        </p:nvSpPr>
        <p:spPr>
          <a:xfrm>
            <a:off x="6012180" y="2414016"/>
            <a:ext cx="594360" cy="384048"/>
          </a:xfrm>
          <a:prstGeom prst="rect">
            <a:avLst/>
          </a:prstGeom>
          <a:solidFill>
            <a:srgbClr val="1A2B5C"/>
          </a:solidFill>
          <a:ln w="12700">
            <a:solidFill>
              <a:srgbClr val="1A2B5C"/>
            </a:solidFill>
            <a:prstDash val="solid"/>
          </a:ln>
        </p:spPr>
        <p:txBody>
          <a:bodyPr/>
          <a:lstStyle/>
          <a:p>
            <a:endParaRPr lang="en-US"/>
          </a:p>
        </p:txBody>
      </p:sp>
      <p:sp>
        <p:nvSpPr>
          <p:cNvPr id="31" name="Text 25"/>
          <p:cNvSpPr/>
          <p:nvPr/>
        </p:nvSpPr>
        <p:spPr>
          <a:xfrm>
            <a:off x="6012180" y="2414016"/>
            <a:ext cx="594360"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04</a:t>
            </a:r>
            <a:endParaRPr lang="en-US" sz="1400"/>
          </a:p>
        </p:txBody>
      </p:sp>
      <p:sp>
        <p:nvSpPr>
          <p:cNvPr id="32" name="Text 26"/>
          <p:cNvSpPr/>
          <p:nvPr/>
        </p:nvSpPr>
        <p:spPr>
          <a:xfrm>
            <a:off x="5614416" y="2971800"/>
            <a:ext cx="1389888" cy="45720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Churn Model</a:t>
            </a:r>
            <a:endParaRPr lang="en-US" sz="1600"/>
          </a:p>
        </p:txBody>
      </p:sp>
      <p:sp>
        <p:nvSpPr>
          <p:cNvPr id="33" name="Text 27"/>
          <p:cNvSpPr/>
          <p:nvPr/>
        </p:nvSpPr>
        <p:spPr>
          <a:xfrm>
            <a:off x="5660136" y="3429000"/>
            <a:ext cx="1298448" cy="868680"/>
          </a:xfrm>
          <a:prstGeom prst="rect">
            <a:avLst/>
          </a:prstGeom>
          <a:noFill/>
          <a:ln/>
        </p:spPr>
        <p:txBody>
          <a:bodyPr wrap="square" lIns="0" tIns="0" rIns="0" bIns="0" rtlCol="0" anchor="t"/>
          <a:lstStyle/>
          <a:p>
            <a:pPr marL="0" indent="0" algn="ctr">
              <a:buNone/>
            </a:pPr>
            <a:r>
              <a:rPr lang="en-US" sz="1100">
                <a:solidFill>
                  <a:srgbClr val="000000"/>
                </a:solidFill>
                <a:latin typeface="Calibri" pitchFamily="34" charset="0"/>
                <a:ea typeface="Calibri" pitchFamily="34" charset="-122"/>
                <a:cs typeface="Calibri" pitchFamily="34" charset="-120"/>
              </a:rPr>
              <a:t>RFM-based scoring to flag at-risk customers early.</a:t>
            </a:r>
            <a:endParaRPr lang="en-US" sz="1100">
              <a:solidFill>
                <a:srgbClr val="000000"/>
              </a:solidFill>
            </a:endParaRPr>
          </a:p>
        </p:txBody>
      </p:sp>
      <p:sp>
        <p:nvSpPr>
          <p:cNvPr id="34" name="Shape 28"/>
          <p:cNvSpPr/>
          <p:nvPr/>
        </p:nvSpPr>
        <p:spPr>
          <a:xfrm>
            <a:off x="7260336" y="1554480"/>
            <a:ext cx="1572768" cy="2788920"/>
          </a:xfrm>
          <a:prstGeom prst="rect">
            <a:avLst/>
          </a:prstGeom>
          <a:solidFill>
            <a:srgbClr val="FFFFFF"/>
          </a:solidFill>
          <a:ln w="9525">
            <a:solidFill>
              <a:srgbClr val="E2E8F0"/>
            </a:solidFill>
            <a:prstDash val="solid"/>
          </a:ln>
        </p:spPr>
        <p:txBody>
          <a:bodyPr/>
          <a:lstStyle/>
          <a:p>
            <a:endParaRPr lang="en-US"/>
          </a:p>
        </p:txBody>
      </p:sp>
      <p:sp>
        <p:nvSpPr>
          <p:cNvPr id="35" name="Shape 29"/>
          <p:cNvSpPr/>
          <p:nvPr/>
        </p:nvSpPr>
        <p:spPr>
          <a:xfrm>
            <a:off x="7260336" y="1554480"/>
            <a:ext cx="1572768" cy="1051560"/>
          </a:xfrm>
          <a:prstGeom prst="rect">
            <a:avLst/>
          </a:prstGeom>
          <a:solidFill>
            <a:srgbClr val="0D9488"/>
          </a:solidFill>
          <a:ln w="12700">
            <a:solidFill>
              <a:srgbClr val="0D9488"/>
            </a:solidFill>
            <a:prstDash val="solid"/>
          </a:ln>
        </p:spPr>
        <p:txBody>
          <a:bodyPr/>
          <a:lstStyle/>
          <a:p>
            <a:endParaRPr lang="en-US"/>
          </a:p>
        </p:txBody>
      </p:sp>
      <p:pic>
        <p:nvPicPr>
          <p:cNvPr id="36" name="Image 4" descr="preencoded.png"/>
          <p:cNvPicPr>
            <a:picLocks noChangeAspect="1"/>
          </p:cNvPicPr>
          <p:nvPr/>
        </p:nvPicPr>
        <p:blipFill>
          <a:blip r:embed="rId7"/>
          <a:stretch>
            <a:fillRect/>
          </a:stretch>
        </p:blipFill>
        <p:spPr>
          <a:xfrm>
            <a:off x="7717536" y="1755648"/>
            <a:ext cx="658368" cy="658368"/>
          </a:xfrm>
          <a:prstGeom prst="rect">
            <a:avLst/>
          </a:prstGeom>
        </p:spPr>
      </p:pic>
      <p:sp>
        <p:nvSpPr>
          <p:cNvPr id="37" name="Shape 30"/>
          <p:cNvSpPr/>
          <p:nvPr/>
        </p:nvSpPr>
        <p:spPr>
          <a:xfrm>
            <a:off x="7749540" y="2414016"/>
            <a:ext cx="594360" cy="384048"/>
          </a:xfrm>
          <a:prstGeom prst="rect">
            <a:avLst/>
          </a:prstGeom>
          <a:solidFill>
            <a:srgbClr val="1A2B5C"/>
          </a:solidFill>
          <a:ln w="12700">
            <a:solidFill>
              <a:srgbClr val="1A2B5C"/>
            </a:solidFill>
            <a:prstDash val="solid"/>
          </a:ln>
        </p:spPr>
        <p:txBody>
          <a:bodyPr/>
          <a:lstStyle/>
          <a:p>
            <a:endParaRPr lang="en-US"/>
          </a:p>
        </p:txBody>
      </p:sp>
      <p:sp>
        <p:nvSpPr>
          <p:cNvPr id="38" name="Text 31"/>
          <p:cNvSpPr/>
          <p:nvPr/>
        </p:nvSpPr>
        <p:spPr>
          <a:xfrm>
            <a:off x="7749540" y="2414016"/>
            <a:ext cx="594360" cy="384048"/>
          </a:xfrm>
          <a:prstGeom prst="rect">
            <a:avLst/>
          </a:prstGeom>
          <a:noFill/>
          <a:ln/>
        </p:spPr>
        <p:txBody>
          <a:bodyPr wrap="square" lIns="0" tIns="0" rIns="0" bIns="0" rtlCol="0" anchor="ctr"/>
          <a:lstStyle/>
          <a:p>
            <a:pPr marL="0" indent="0" algn="ctr">
              <a:buNone/>
            </a:pPr>
            <a:r>
              <a:rPr lang="en-US" sz="1400" b="1">
                <a:solidFill>
                  <a:srgbClr val="FFFFFF"/>
                </a:solidFill>
                <a:latin typeface="Calibri" pitchFamily="34" charset="0"/>
                <a:ea typeface="Calibri" pitchFamily="34" charset="-122"/>
                <a:cs typeface="Calibri" pitchFamily="34" charset="-120"/>
              </a:rPr>
              <a:t>05</a:t>
            </a:r>
            <a:endParaRPr lang="en-US" sz="1400"/>
          </a:p>
        </p:txBody>
      </p:sp>
      <p:sp>
        <p:nvSpPr>
          <p:cNvPr id="39" name="Text 32"/>
          <p:cNvSpPr/>
          <p:nvPr/>
        </p:nvSpPr>
        <p:spPr>
          <a:xfrm>
            <a:off x="7351776" y="2971800"/>
            <a:ext cx="1389888" cy="457200"/>
          </a:xfrm>
          <a:prstGeom prst="rect">
            <a:avLst/>
          </a:prstGeom>
          <a:noFill/>
          <a:ln/>
        </p:spPr>
        <p:txBody>
          <a:bodyPr wrap="square" lIns="0" tIns="0" rIns="0" bIns="0" rtlCol="0" anchor="ctr"/>
          <a:lstStyle/>
          <a:p>
            <a:pPr marL="0" indent="0" algn="ctr">
              <a:buNone/>
            </a:pPr>
            <a:r>
              <a:rPr lang="en-US" sz="1600" b="1">
                <a:solidFill>
                  <a:srgbClr val="1A2B5C"/>
                </a:solidFill>
                <a:latin typeface="Calibri" pitchFamily="34" charset="0"/>
                <a:ea typeface="Calibri" pitchFamily="34" charset="-122"/>
                <a:cs typeface="Calibri" pitchFamily="34" charset="-120"/>
              </a:rPr>
              <a:t>Q&amp;A</a:t>
            </a:r>
            <a:endParaRPr lang="en-US" sz="1600"/>
          </a:p>
        </p:txBody>
      </p:sp>
      <p:sp>
        <p:nvSpPr>
          <p:cNvPr id="40" name="Text 33"/>
          <p:cNvSpPr/>
          <p:nvPr/>
        </p:nvSpPr>
        <p:spPr>
          <a:xfrm>
            <a:off x="7397496" y="3429000"/>
            <a:ext cx="1298448" cy="868680"/>
          </a:xfrm>
          <a:prstGeom prst="rect">
            <a:avLst/>
          </a:prstGeom>
          <a:noFill/>
          <a:ln/>
        </p:spPr>
        <p:txBody>
          <a:bodyPr wrap="square" lIns="0" tIns="0" rIns="0" bIns="0" rtlCol="0" anchor="t"/>
          <a:lstStyle/>
          <a:p>
            <a:pPr marL="0" indent="0" algn="ctr">
              <a:buNone/>
            </a:pPr>
            <a:r>
              <a:rPr lang="en-US" sz="1100">
                <a:solidFill>
                  <a:srgbClr val="000000"/>
                </a:solidFill>
                <a:latin typeface="Calibri" pitchFamily="34" charset="0"/>
                <a:ea typeface="Calibri" pitchFamily="34" charset="-122"/>
                <a:cs typeface="Calibri" pitchFamily="34" charset="-120"/>
              </a:rPr>
              <a:t>Status, next steps, and open discussion.</a:t>
            </a:r>
            <a:endParaRPr lang="en-US" sz="1100">
              <a:solidFill>
                <a:srgbClr val="000000"/>
              </a:solidFill>
            </a:endParaRPr>
          </a:p>
        </p:txBody>
      </p:sp>
      <p:sp>
        <p:nvSpPr>
          <p:cNvPr id="41" name="Shape 34"/>
          <p:cNvSpPr/>
          <p:nvPr/>
        </p:nvSpPr>
        <p:spPr>
          <a:xfrm>
            <a:off x="731520" y="4572000"/>
            <a:ext cx="7680960" cy="0"/>
          </a:xfrm>
          <a:prstGeom prst="line">
            <a:avLst/>
          </a:prstGeom>
          <a:noFill/>
          <a:ln w="12700">
            <a:solidFill>
              <a:srgbClr val="E2E8F0"/>
            </a:solidFill>
            <a:prstDash val="dash"/>
          </a:ln>
        </p:spPr>
        <p:txBody>
          <a:bodyPr/>
          <a:lstStyle/>
          <a:p>
            <a:endParaRPr lang="en-US"/>
          </a:p>
        </p:txBody>
      </p:sp>
      <p:sp>
        <p:nvSpPr>
          <p:cNvPr id="42" name="Text 35"/>
          <p:cNvSpPr/>
          <p:nvPr/>
        </p:nvSpPr>
        <p:spPr>
          <a:xfrm>
            <a:off x="457200" y="4389120"/>
            <a:ext cx="1097280" cy="365760"/>
          </a:xfrm>
          <a:prstGeom prst="rect">
            <a:avLst/>
          </a:prstGeom>
          <a:noFill/>
          <a:ln/>
        </p:spPr>
        <p:txBody>
          <a:bodyPr wrap="square" lIns="0" tIns="0" rIns="0" bIns="0" rtlCol="0" anchor="ctr"/>
          <a:lstStyle/>
          <a:p>
            <a:pPr marL="0" indent="0" algn="l">
              <a:buNone/>
            </a:pPr>
            <a:r>
              <a:rPr lang="en-US" sz="1100" b="1">
                <a:solidFill>
                  <a:srgbClr val="0D9488"/>
                </a:solidFill>
                <a:latin typeface="Calibri" pitchFamily="34" charset="0"/>
                <a:ea typeface="Calibri" pitchFamily="34" charset="-122"/>
                <a:cs typeface="Calibri" pitchFamily="34" charset="-120"/>
              </a:rPr>
              <a:t>Start  →</a:t>
            </a:r>
            <a:endParaRPr lang="en-US" sz="1100"/>
          </a:p>
        </p:txBody>
      </p:sp>
      <p:sp>
        <p:nvSpPr>
          <p:cNvPr id="43" name="Text 36"/>
          <p:cNvSpPr/>
          <p:nvPr/>
        </p:nvSpPr>
        <p:spPr>
          <a:xfrm>
            <a:off x="7589520" y="4389120"/>
            <a:ext cx="1097280" cy="365760"/>
          </a:xfrm>
          <a:prstGeom prst="rect">
            <a:avLst/>
          </a:prstGeom>
          <a:noFill/>
          <a:ln/>
        </p:spPr>
        <p:txBody>
          <a:bodyPr wrap="square" lIns="0" tIns="0" rIns="0" bIns="0" rtlCol="0" anchor="ctr"/>
          <a:lstStyle/>
          <a:p>
            <a:pPr marL="0" indent="0" algn="r">
              <a:buNone/>
            </a:pPr>
            <a:r>
              <a:rPr lang="en-US" sz="1100" b="1">
                <a:solidFill>
                  <a:srgbClr val="0D9488"/>
                </a:solidFill>
                <a:latin typeface="Calibri" pitchFamily="34" charset="0"/>
                <a:ea typeface="Calibri" pitchFamily="34" charset="-122"/>
                <a:cs typeface="Calibri" pitchFamily="34" charset="-120"/>
              </a:rPr>
              <a:t>→  Wrap-up</a:t>
            </a:r>
            <a:endParaRPr lang="en-US" sz="1100"/>
          </a:p>
        </p:txBody>
      </p:sp>
      <p:sp>
        <p:nvSpPr>
          <p:cNvPr id="45" name="TextBox 44">
            <a:extLst>
              <a:ext uri="{FF2B5EF4-FFF2-40B4-BE49-F238E27FC236}">
                <a16:creationId xmlns:a16="http://schemas.microsoft.com/office/drawing/2014/main" id="{8FE9DA03-B853-6760-5E78-20439F11BBDD}"/>
              </a:ext>
            </a:extLst>
          </p:cNvPr>
          <p:cNvSpPr txBox="1"/>
          <p:nvPr/>
        </p:nvSpPr>
        <p:spPr>
          <a:xfrm>
            <a:off x="8542404" y="223231"/>
            <a:ext cx="380232" cy="553998"/>
          </a:xfrm>
          <a:prstGeom prst="rect">
            <a:avLst/>
          </a:prstGeom>
          <a:noFill/>
        </p:spPr>
        <p:txBody>
          <a:bodyPr wrap="none" lIns="91440" tIns="45720" rIns="91440" bIns="45720" rtlCol="0" anchor="t">
            <a:spAutoFit/>
          </a:bodyPr>
          <a:lstStyle/>
          <a:p>
            <a:r>
              <a:rPr lang="en-US" sz="3000">
                <a:solidFill>
                  <a:schemeClr val="bg1"/>
                </a:solidFill>
                <a:ea typeface="Calibri"/>
                <a:cs typeface="Calibri"/>
              </a:rPr>
              <a:t>5</a:t>
            </a:r>
          </a:p>
        </p:txBody>
      </p:sp>
    </p:spTree>
    <p:extLst>
      <p:ext uri="{BB962C8B-B14F-4D97-AF65-F5344CB8AC3E}">
        <p14:creationId xmlns:p14="http://schemas.microsoft.com/office/powerpoint/2010/main" val="336262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D9488"/>
          </a:solidFill>
          <a:ln/>
        </p:spPr>
        <p:txBody>
          <a:bodyPr/>
          <a:lstStyle/>
          <a:p>
            <a:endParaRPr lang="en-US"/>
          </a:p>
        </p:txBody>
      </p:sp>
      <p:sp>
        <p:nvSpPr>
          <p:cNvPr id="3" name="Shape 1"/>
          <p:cNvSpPr/>
          <p:nvPr/>
        </p:nvSpPr>
        <p:spPr>
          <a:xfrm>
            <a:off x="137160" y="0"/>
            <a:ext cx="9006840" cy="914400"/>
          </a:xfrm>
          <a:prstGeom prst="rect">
            <a:avLst/>
          </a:prstGeom>
          <a:solidFill>
            <a:srgbClr val="1A2B5C"/>
          </a:solidFill>
          <a:ln/>
        </p:spPr>
        <p:txBody>
          <a:bodyPr/>
          <a:lstStyle/>
          <a:p>
            <a:endParaRPr lang="en-US"/>
          </a:p>
        </p:txBody>
      </p:sp>
      <p:sp>
        <p:nvSpPr>
          <p:cNvPr id="4" name="Text 2"/>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 System Architecture</a:t>
            </a:r>
            <a:endParaRPr lang="en-US" sz="3200">
              <a:ea typeface="Calibri" panose="020F0502020204030204"/>
              <a:cs typeface="Calibri" panose="020F0502020204030204"/>
            </a:endParaRPr>
          </a:p>
        </p:txBody>
      </p:sp>
      <p:pic>
        <p:nvPicPr>
          <p:cNvPr id="34" name="Picture 33" descr="A screenshot of a computer&#10;&#10;AI-generated content may be incorrect.">
            <a:extLst>
              <a:ext uri="{FF2B5EF4-FFF2-40B4-BE49-F238E27FC236}">
                <a16:creationId xmlns:a16="http://schemas.microsoft.com/office/drawing/2014/main" id="{F9AC9DE4-C193-4955-536E-F145BEDAB7CA}"/>
              </a:ext>
            </a:extLst>
          </p:cNvPr>
          <p:cNvPicPr>
            <a:picLocks noChangeAspect="1"/>
          </p:cNvPicPr>
          <p:nvPr/>
        </p:nvPicPr>
        <p:blipFill>
          <a:blip r:embed="rId3"/>
          <a:stretch>
            <a:fillRect/>
          </a:stretch>
        </p:blipFill>
        <p:spPr>
          <a:xfrm>
            <a:off x="2283064" y="1068819"/>
            <a:ext cx="3857150" cy="3787153"/>
          </a:xfrm>
          <a:prstGeom prst="rect">
            <a:avLst/>
          </a:prstGeom>
        </p:spPr>
      </p:pic>
      <p:sp>
        <p:nvSpPr>
          <p:cNvPr id="5" name="TextBox 4">
            <a:extLst>
              <a:ext uri="{FF2B5EF4-FFF2-40B4-BE49-F238E27FC236}">
                <a16:creationId xmlns:a16="http://schemas.microsoft.com/office/drawing/2014/main" id="{1A3DE32B-8866-2AF8-385F-98828478FF05}"/>
              </a:ext>
            </a:extLst>
          </p:cNvPr>
          <p:cNvSpPr txBox="1"/>
          <p:nvPr/>
        </p:nvSpPr>
        <p:spPr>
          <a:xfrm>
            <a:off x="8542404" y="223231"/>
            <a:ext cx="380232" cy="553998"/>
          </a:xfrm>
          <a:prstGeom prst="rect">
            <a:avLst/>
          </a:prstGeom>
          <a:noFill/>
        </p:spPr>
        <p:txBody>
          <a:bodyPr wrap="none" lIns="91440" tIns="45720" rIns="91440" bIns="45720" rtlCol="0" anchor="t">
            <a:spAutoFit/>
          </a:bodyPr>
          <a:lstStyle/>
          <a:p>
            <a:r>
              <a:rPr lang="en-US" sz="3000">
                <a:solidFill>
                  <a:schemeClr val="bg1"/>
                </a:solidFill>
                <a:ea typeface="Calibri"/>
                <a:cs typeface="Calibri"/>
              </a:rPr>
              <a:t>6</a:t>
            </a:r>
          </a:p>
        </p:txBody>
      </p:sp>
      <p:pic>
        <p:nvPicPr>
          <p:cNvPr id="7" name="Picture 6" descr="Request: Amazon S3 · Issue #2687 · simple-icons/simple-icons">
            <a:extLst>
              <a:ext uri="{FF2B5EF4-FFF2-40B4-BE49-F238E27FC236}">
                <a16:creationId xmlns:a16="http://schemas.microsoft.com/office/drawing/2014/main" id="{3D3CB54A-8267-DFA5-B1AA-DDCE0FB263D6}"/>
              </a:ext>
            </a:extLst>
          </p:cNvPr>
          <p:cNvPicPr>
            <a:picLocks noChangeAspect="1"/>
          </p:cNvPicPr>
          <p:nvPr/>
        </p:nvPicPr>
        <p:blipFill>
          <a:blip r:embed="rId4"/>
          <a:stretch>
            <a:fillRect/>
          </a:stretch>
        </p:blipFill>
        <p:spPr>
          <a:xfrm>
            <a:off x="7050504" y="1207668"/>
            <a:ext cx="1194134" cy="1179096"/>
          </a:xfrm>
          <a:prstGeom prst="rect">
            <a:avLst/>
          </a:prstGeom>
        </p:spPr>
      </p:pic>
      <p:pic>
        <p:nvPicPr>
          <p:cNvPr id="8" name="Picture 7" descr="Amazon SageMaker Course with Certification Training [2026]">
            <a:extLst>
              <a:ext uri="{FF2B5EF4-FFF2-40B4-BE49-F238E27FC236}">
                <a16:creationId xmlns:a16="http://schemas.microsoft.com/office/drawing/2014/main" id="{EA5D3860-7A8B-0676-5743-26CB713FA3D1}"/>
              </a:ext>
            </a:extLst>
          </p:cNvPr>
          <p:cNvPicPr>
            <a:picLocks noChangeAspect="1"/>
          </p:cNvPicPr>
          <p:nvPr/>
        </p:nvPicPr>
        <p:blipFill>
          <a:blip r:embed="rId5"/>
          <a:stretch>
            <a:fillRect/>
          </a:stretch>
        </p:blipFill>
        <p:spPr>
          <a:xfrm>
            <a:off x="6858000" y="2960370"/>
            <a:ext cx="1810512" cy="13990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E27427A5-ED94-9A89-2039-D8267C6989B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0C4BF62-D075-13DA-1E5F-763DB196958B}"/>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7BB3FCE4-1B7E-5992-31C0-7FB76D7EA517}"/>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3118068E-0823-8EDD-586C-C03488EBD608}"/>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Manual Segmentation</a:t>
            </a:r>
            <a:endParaRPr lang="en-US" sz="3200"/>
          </a:p>
        </p:txBody>
      </p:sp>
      <p:sp>
        <p:nvSpPr>
          <p:cNvPr id="39" name="Shape 3">
            <a:extLst>
              <a:ext uri="{FF2B5EF4-FFF2-40B4-BE49-F238E27FC236}">
                <a16:creationId xmlns:a16="http://schemas.microsoft.com/office/drawing/2014/main" id="{BB47F215-D1B8-00E8-59F3-4F8A45CEE7CF}"/>
              </a:ext>
            </a:extLst>
          </p:cNvPr>
          <p:cNvSpPr/>
          <p:nvPr/>
        </p:nvSpPr>
        <p:spPr>
          <a:xfrm>
            <a:off x="256032" y="1005840"/>
            <a:ext cx="8774889" cy="3977640"/>
          </a:xfrm>
          <a:prstGeom prst="rect">
            <a:avLst/>
          </a:prstGeom>
          <a:solidFill>
            <a:srgbClr val="FFFFFF"/>
          </a:solidFill>
          <a:ln/>
          <a:effectLst>
            <a:outerShdw blurRad="101600" dist="25400" dir="8100000" algn="bl" rotWithShape="0">
              <a:srgbClr val="000000">
                <a:alpha val="9000"/>
              </a:srgbClr>
            </a:outerShdw>
          </a:effectLst>
        </p:spPr>
        <p:txBody>
          <a:bodyPr/>
          <a:lstStyle/>
          <a:p>
            <a:endParaRPr lang="en-US"/>
          </a:p>
        </p:txBody>
      </p:sp>
      <p:pic>
        <p:nvPicPr>
          <p:cNvPr id="5" name="Picture 4" descr="A diagram of a diagram&#10;&#10;AI-generated content may be incorrect.">
            <a:extLst>
              <a:ext uri="{FF2B5EF4-FFF2-40B4-BE49-F238E27FC236}">
                <a16:creationId xmlns:a16="http://schemas.microsoft.com/office/drawing/2014/main" id="{44DCA43E-123B-CC4F-BD0B-08B0838F2783}"/>
              </a:ext>
            </a:extLst>
          </p:cNvPr>
          <p:cNvPicPr>
            <a:picLocks noChangeAspect="1"/>
          </p:cNvPicPr>
          <p:nvPr/>
        </p:nvPicPr>
        <p:blipFill>
          <a:blip r:embed="rId3"/>
          <a:stretch>
            <a:fillRect/>
          </a:stretch>
        </p:blipFill>
        <p:spPr>
          <a:xfrm>
            <a:off x="1784350" y="1057275"/>
            <a:ext cx="5391150" cy="3879850"/>
          </a:xfrm>
          <a:prstGeom prst="rect">
            <a:avLst/>
          </a:prstGeom>
        </p:spPr>
      </p:pic>
      <p:sp>
        <p:nvSpPr>
          <p:cNvPr id="6" name="TextBox 5">
            <a:extLst>
              <a:ext uri="{FF2B5EF4-FFF2-40B4-BE49-F238E27FC236}">
                <a16:creationId xmlns:a16="http://schemas.microsoft.com/office/drawing/2014/main" id="{0D09E8CB-1F85-8320-3405-08ED995C2CBD}"/>
              </a:ext>
            </a:extLst>
          </p:cNvPr>
          <p:cNvSpPr txBox="1"/>
          <p:nvPr/>
        </p:nvSpPr>
        <p:spPr>
          <a:xfrm>
            <a:off x="8542404" y="223231"/>
            <a:ext cx="380232" cy="553998"/>
          </a:xfrm>
          <a:prstGeom prst="rect">
            <a:avLst/>
          </a:prstGeom>
          <a:noFill/>
        </p:spPr>
        <p:txBody>
          <a:bodyPr wrap="none" lIns="91440" tIns="45720" rIns="91440" bIns="45720" rtlCol="0" anchor="t">
            <a:spAutoFit/>
          </a:bodyPr>
          <a:lstStyle/>
          <a:p>
            <a:r>
              <a:rPr lang="en-US" sz="3000">
                <a:solidFill>
                  <a:schemeClr val="bg1"/>
                </a:solidFill>
                <a:ea typeface="Calibri"/>
                <a:cs typeface="Calibri"/>
              </a:rPr>
              <a:t>7</a:t>
            </a:r>
          </a:p>
        </p:txBody>
      </p:sp>
    </p:spTree>
    <p:extLst>
      <p:ext uri="{BB962C8B-B14F-4D97-AF65-F5344CB8AC3E}">
        <p14:creationId xmlns:p14="http://schemas.microsoft.com/office/powerpoint/2010/main" val="607782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24026124-25DC-4687-7AAF-B8485BD8EF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E29EF5-6B07-0509-5248-1F9F6124D0AA}"/>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97B24B6F-8A64-A232-F1C2-EE81396F5FB3}"/>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9BE27EBC-81A3-324A-7939-A9B8E169E8B4}"/>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Clustering</a:t>
            </a:r>
            <a:endParaRPr lang="en-US" sz="3200"/>
          </a:p>
        </p:txBody>
      </p:sp>
      <p:sp>
        <p:nvSpPr>
          <p:cNvPr id="39" name="Shape 3">
            <a:extLst>
              <a:ext uri="{FF2B5EF4-FFF2-40B4-BE49-F238E27FC236}">
                <a16:creationId xmlns:a16="http://schemas.microsoft.com/office/drawing/2014/main" id="{328F6160-A736-E0FF-3863-D717FD7409A9}"/>
              </a:ext>
            </a:extLst>
          </p:cNvPr>
          <p:cNvSpPr/>
          <p:nvPr/>
        </p:nvSpPr>
        <p:spPr>
          <a:xfrm>
            <a:off x="256032" y="1005840"/>
            <a:ext cx="8774889" cy="3977640"/>
          </a:xfrm>
          <a:prstGeom prst="rect">
            <a:avLst/>
          </a:prstGeom>
          <a:solidFill>
            <a:srgbClr val="FFFFFF"/>
          </a:solidFill>
          <a:ln/>
          <a:effectLst>
            <a:outerShdw blurRad="101600" dist="25400" dir="8100000" algn="bl" rotWithShape="0">
              <a:srgbClr val="000000">
                <a:alpha val="9000"/>
              </a:srgbClr>
            </a:outerShdw>
          </a:effectLst>
        </p:spPr>
        <p:txBody>
          <a:bodyPr/>
          <a:lstStyle/>
          <a:p>
            <a:endParaRPr lang="en-US"/>
          </a:p>
        </p:txBody>
      </p:sp>
      <p:pic>
        <p:nvPicPr>
          <p:cNvPr id="6" name="Picture 5" descr="A blue and purple dots&#10;&#10;AI-generated content may be incorrect.">
            <a:extLst>
              <a:ext uri="{FF2B5EF4-FFF2-40B4-BE49-F238E27FC236}">
                <a16:creationId xmlns:a16="http://schemas.microsoft.com/office/drawing/2014/main" id="{09C510EC-1518-82EB-E018-C9DD950524BA}"/>
              </a:ext>
            </a:extLst>
          </p:cNvPr>
          <p:cNvPicPr>
            <a:picLocks noChangeAspect="1"/>
          </p:cNvPicPr>
          <p:nvPr/>
        </p:nvPicPr>
        <p:blipFill>
          <a:blip r:embed="rId3"/>
          <a:stretch>
            <a:fillRect/>
          </a:stretch>
        </p:blipFill>
        <p:spPr>
          <a:xfrm>
            <a:off x="1056735" y="1231599"/>
            <a:ext cx="7030529" cy="3521377"/>
          </a:xfrm>
          <a:prstGeom prst="rect">
            <a:avLst/>
          </a:prstGeom>
        </p:spPr>
      </p:pic>
      <p:sp>
        <p:nvSpPr>
          <p:cNvPr id="5" name="TextBox 4">
            <a:extLst>
              <a:ext uri="{FF2B5EF4-FFF2-40B4-BE49-F238E27FC236}">
                <a16:creationId xmlns:a16="http://schemas.microsoft.com/office/drawing/2014/main" id="{56A22BE8-8A04-AA23-9F6C-DF5AD32A16FA}"/>
              </a:ext>
            </a:extLst>
          </p:cNvPr>
          <p:cNvSpPr txBox="1"/>
          <p:nvPr/>
        </p:nvSpPr>
        <p:spPr>
          <a:xfrm>
            <a:off x="8542404" y="223231"/>
            <a:ext cx="380232" cy="553998"/>
          </a:xfrm>
          <a:prstGeom prst="rect">
            <a:avLst/>
          </a:prstGeom>
          <a:noFill/>
        </p:spPr>
        <p:txBody>
          <a:bodyPr wrap="none" rtlCol="0">
            <a:spAutoFit/>
          </a:bodyPr>
          <a:lstStyle/>
          <a:p>
            <a:r>
              <a:rPr lang="en-US" sz="3000">
                <a:solidFill>
                  <a:schemeClr val="bg1"/>
                </a:solidFill>
              </a:rPr>
              <a:t>8</a:t>
            </a:r>
          </a:p>
        </p:txBody>
      </p:sp>
    </p:spTree>
    <p:extLst>
      <p:ext uri="{BB962C8B-B14F-4D97-AF65-F5344CB8AC3E}">
        <p14:creationId xmlns:p14="http://schemas.microsoft.com/office/powerpoint/2010/main" val="997495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E5DB8070-B0D9-9465-8C17-D95561011B7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2526DE7-974A-F8E6-53B4-EDB7CD69A7C7}"/>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07084E0B-2DD9-38D7-BED7-6F1388E81945}"/>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4700B718-F29E-D531-12D8-0502E4272502}"/>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Raw Data</a:t>
            </a:r>
            <a:endParaRPr lang="en-US" sz="3200"/>
          </a:p>
        </p:txBody>
      </p:sp>
      <p:pic>
        <p:nvPicPr>
          <p:cNvPr id="9" name="Picture 8" descr="A table with numbers and a number on it&#10;&#10;AI-generated content may be incorrect.">
            <a:extLst>
              <a:ext uri="{FF2B5EF4-FFF2-40B4-BE49-F238E27FC236}">
                <a16:creationId xmlns:a16="http://schemas.microsoft.com/office/drawing/2014/main" id="{A9424417-4E2C-ACB3-1FE6-15D5E41A7202}"/>
              </a:ext>
            </a:extLst>
          </p:cNvPr>
          <p:cNvPicPr>
            <a:picLocks noChangeAspect="1"/>
          </p:cNvPicPr>
          <p:nvPr/>
        </p:nvPicPr>
        <p:blipFill>
          <a:blip r:embed="rId3"/>
          <a:stretch>
            <a:fillRect/>
          </a:stretch>
        </p:blipFill>
        <p:spPr>
          <a:xfrm>
            <a:off x="137949" y="892729"/>
            <a:ext cx="9020831" cy="4274416"/>
          </a:xfrm>
          <a:prstGeom prst="rect">
            <a:avLst/>
          </a:prstGeom>
        </p:spPr>
      </p:pic>
      <p:sp>
        <p:nvSpPr>
          <p:cNvPr id="6" name="Rectangle 5">
            <a:extLst>
              <a:ext uri="{FF2B5EF4-FFF2-40B4-BE49-F238E27FC236}">
                <a16:creationId xmlns:a16="http://schemas.microsoft.com/office/drawing/2014/main" id="{2590C687-5A11-3354-3F6A-40E6FB0547F0}"/>
              </a:ext>
            </a:extLst>
          </p:cNvPr>
          <p:cNvSpPr/>
          <p:nvPr/>
        </p:nvSpPr>
        <p:spPr>
          <a:xfrm>
            <a:off x="1063816" y="1201466"/>
            <a:ext cx="821973" cy="3961700"/>
          </a:xfrm>
          <a:prstGeom prst="rect">
            <a:avLst/>
          </a:prstGeom>
          <a:solidFill>
            <a:schemeClr val="tx1">
              <a:lumMod val="85000"/>
              <a:lumOff val="1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3B384CA-4486-326F-0869-ED98F8ABD83E}"/>
              </a:ext>
            </a:extLst>
          </p:cNvPr>
          <p:cNvSpPr txBox="1"/>
          <p:nvPr/>
        </p:nvSpPr>
        <p:spPr>
          <a:xfrm>
            <a:off x="8542404" y="223231"/>
            <a:ext cx="380232" cy="553998"/>
          </a:xfrm>
          <a:prstGeom prst="rect">
            <a:avLst/>
          </a:prstGeom>
          <a:noFill/>
        </p:spPr>
        <p:txBody>
          <a:bodyPr wrap="none" rtlCol="0">
            <a:spAutoFit/>
          </a:bodyPr>
          <a:lstStyle/>
          <a:p>
            <a:r>
              <a:rPr lang="en-US" sz="3000">
                <a:solidFill>
                  <a:schemeClr val="bg1"/>
                </a:solidFill>
              </a:rPr>
              <a:t>9</a:t>
            </a:r>
          </a:p>
        </p:txBody>
      </p:sp>
    </p:spTree>
    <p:extLst>
      <p:ext uri="{BB962C8B-B14F-4D97-AF65-F5344CB8AC3E}">
        <p14:creationId xmlns:p14="http://schemas.microsoft.com/office/powerpoint/2010/main" val="157818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8F7AAA53-0593-F3CA-AC23-0799FD40D9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7D1AA5C-E456-2780-B6FC-5420A7900086}"/>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B7211E3A-10C2-6FB2-1953-735893CFA6E6}"/>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5E5F8AF2-FB73-B7D5-20D2-6F155BE35CC0}"/>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Clustering </a:t>
            </a:r>
            <a:r>
              <a:rPr lang="en-US" sz="3200" b="1" err="1">
                <a:solidFill>
                  <a:srgbClr val="FFFFFF"/>
                </a:solidFill>
              </a:rPr>
              <a:t>Segmention</a:t>
            </a:r>
            <a:endParaRPr lang="en-US" sz="3200" err="1"/>
          </a:p>
        </p:txBody>
      </p:sp>
      <p:pic>
        <p:nvPicPr>
          <p:cNvPr id="10" name="Picture 9" descr="A screen shot of a graph&#10;&#10;AI-generated content may be incorrect.">
            <a:extLst>
              <a:ext uri="{FF2B5EF4-FFF2-40B4-BE49-F238E27FC236}">
                <a16:creationId xmlns:a16="http://schemas.microsoft.com/office/drawing/2014/main" id="{987AEAD9-A77D-5B75-802A-7F3DD024D200}"/>
              </a:ext>
            </a:extLst>
          </p:cNvPr>
          <p:cNvPicPr>
            <a:picLocks noChangeAspect="1"/>
          </p:cNvPicPr>
          <p:nvPr/>
        </p:nvPicPr>
        <p:blipFill>
          <a:blip r:embed="rId3"/>
          <a:stretch>
            <a:fillRect/>
          </a:stretch>
        </p:blipFill>
        <p:spPr>
          <a:xfrm>
            <a:off x="2285679" y="916371"/>
            <a:ext cx="4493811" cy="4286250"/>
          </a:xfrm>
          <a:prstGeom prst="rect">
            <a:avLst/>
          </a:prstGeom>
        </p:spPr>
      </p:pic>
      <p:sp>
        <p:nvSpPr>
          <p:cNvPr id="5" name="TextBox 4">
            <a:extLst>
              <a:ext uri="{FF2B5EF4-FFF2-40B4-BE49-F238E27FC236}">
                <a16:creationId xmlns:a16="http://schemas.microsoft.com/office/drawing/2014/main" id="{0B34A192-B4A7-FAF9-3370-230BD27D8862}"/>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10</a:t>
            </a:r>
          </a:p>
        </p:txBody>
      </p:sp>
    </p:spTree>
    <p:extLst>
      <p:ext uri="{BB962C8B-B14F-4D97-AF65-F5344CB8AC3E}">
        <p14:creationId xmlns:p14="http://schemas.microsoft.com/office/powerpoint/2010/main" val="3578021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70D8A65D-D6B4-0D29-7B73-3CBAF37161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E4A6F7C-26D3-BC68-F2F8-2CB68E6DE5FE}"/>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19FB3BD6-DF8C-733A-DCF0-0A9C424B08E4}"/>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20682FA4-607A-87EB-1DA0-96F380628DBF}"/>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Cluster Model UI</a:t>
            </a:r>
            <a:endParaRPr lang="en-US" sz="3200"/>
          </a:p>
        </p:txBody>
      </p:sp>
      <p:pic>
        <p:nvPicPr>
          <p:cNvPr id="5" name="Picture 4" descr="A screenshot of a computer screen&#10;&#10;AI-generated content may be incorrect.">
            <a:extLst>
              <a:ext uri="{FF2B5EF4-FFF2-40B4-BE49-F238E27FC236}">
                <a16:creationId xmlns:a16="http://schemas.microsoft.com/office/drawing/2014/main" id="{D1450EC9-3635-6AA7-45FE-352FC4FBECC7}"/>
              </a:ext>
            </a:extLst>
          </p:cNvPr>
          <p:cNvPicPr>
            <a:picLocks noChangeAspect="1"/>
          </p:cNvPicPr>
          <p:nvPr/>
        </p:nvPicPr>
        <p:blipFill>
          <a:blip r:embed="rId3"/>
          <a:stretch>
            <a:fillRect/>
          </a:stretch>
        </p:blipFill>
        <p:spPr>
          <a:xfrm>
            <a:off x="1057932" y="1084208"/>
            <a:ext cx="7166085" cy="3989990"/>
          </a:xfrm>
          <a:prstGeom prst="rect">
            <a:avLst/>
          </a:prstGeom>
        </p:spPr>
      </p:pic>
      <p:sp>
        <p:nvSpPr>
          <p:cNvPr id="6" name="TextBox 5">
            <a:extLst>
              <a:ext uri="{FF2B5EF4-FFF2-40B4-BE49-F238E27FC236}">
                <a16:creationId xmlns:a16="http://schemas.microsoft.com/office/drawing/2014/main" id="{DE5C384D-783B-9E69-26FE-70E0A81B78C2}"/>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11</a:t>
            </a:r>
          </a:p>
        </p:txBody>
      </p:sp>
    </p:spTree>
    <p:extLst>
      <p:ext uri="{BB962C8B-B14F-4D97-AF65-F5344CB8AC3E}">
        <p14:creationId xmlns:p14="http://schemas.microsoft.com/office/powerpoint/2010/main" val="1751487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A4F52199-FE9E-169E-DB6F-AAB31E72DE3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1DB80EA-4050-F01B-0791-2F98B9F45CF9}"/>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4340C92B-3E98-B31D-113F-A3DA135FA792}"/>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A53D096F-A95A-1461-B875-3A102519C159}"/>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Cluster Model Detailed Page</a:t>
            </a:r>
            <a:endParaRPr lang="en-US" sz="3200"/>
          </a:p>
        </p:txBody>
      </p:sp>
      <p:pic>
        <p:nvPicPr>
          <p:cNvPr id="7" name="Picture 6" descr="A screenshot of a computer&#10;&#10;AI-generated content may be incorrect.">
            <a:extLst>
              <a:ext uri="{FF2B5EF4-FFF2-40B4-BE49-F238E27FC236}">
                <a16:creationId xmlns:a16="http://schemas.microsoft.com/office/drawing/2014/main" id="{6CACFCE9-3D0C-A41B-5683-047CFB8AB5CE}"/>
              </a:ext>
            </a:extLst>
          </p:cNvPr>
          <p:cNvPicPr>
            <a:picLocks noChangeAspect="1"/>
          </p:cNvPicPr>
          <p:nvPr/>
        </p:nvPicPr>
        <p:blipFill>
          <a:blip r:embed="rId3"/>
          <a:srcRect r="1386" b="1557"/>
          <a:stretch>
            <a:fillRect/>
          </a:stretch>
        </p:blipFill>
        <p:spPr>
          <a:xfrm>
            <a:off x="1185123" y="989710"/>
            <a:ext cx="6910914" cy="4078480"/>
          </a:xfrm>
          <a:prstGeom prst="rect">
            <a:avLst/>
          </a:prstGeom>
        </p:spPr>
      </p:pic>
      <p:sp>
        <p:nvSpPr>
          <p:cNvPr id="8" name="TextBox 7">
            <a:extLst>
              <a:ext uri="{FF2B5EF4-FFF2-40B4-BE49-F238E27FC236}">
                <a16:creationId xmlns:a16="http://schemas.microsoft.com/office/drawing/2014/main" id="{DAB99885-B32C-4449-FBB4-AA3E311BB528}"/>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12</a:t>
            </a:r>
          </a:p>
        </p:txBody>
      </p:sp>
    </p:spTree>
    <p:extLst>
      <p:ext uri="{BB962C8B-B14F-4D97-AF65-F5344CB8AC3E}">
        <p14:creationId xmlns:p14="http://schemas.microsoft.com/office/powerpoint/2010/main" val="1042501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0F92EE9-30D1-B795-575E-003DB74DE23B}"/>
              </a:ext>
            </a:extLst>
          </p:cNvPr>
          <p:cNvSpPr/>
          <p:nvPr/>
        </p:nvSpPr>
        <p:spPr>
          <a:xfrm>
            <a:off x="0" y="0"/>
            <a:ext cx="137160" cy="5143500"/>
          </a:xfrm>
          <a:prstGeom prst="rect">
            <a:avLst/>
          </a:prstGeom>
          <a:solidFill>
            <a:srgbClr val="0D9488"/>
          </a:solidFill>
          <a:ln/>
        </p:spPr>
        <p:txBody>
          <a:bodyPr/>
          <a:lstStyle/>
          <a:p>
            <a:endParaRPr lang="en-US"/>
          </a:p>
        </p:txBody>
      </p:sp>
      <p:sp>
        <p:nvSpPr>
          <p:cNvPr id="6" name="Shape 1">
            <a:extLst>
              <a:ext uri="{FF2B5EF4-FFF2-40B4-BE49-F238E27FC236}">
                <a16:creationId xmlns:a16="http://schemas.microsoft.com/office/drawing/2014/main" id="{9B50F8FF-C18A-0A64-0DE3-E87E41040488}"/>
              </a:ext>
            </a:extLst>
          </p:cNvPr>
          <p:cNvSpPr/>
          <p:nvPr/>
        </p:nvSpPr>
        <p:spPr>
          <a:xfrm>
            <a:off x="137160" y="0"/>
            <a:ext cx="9006840" cy="914400"/>
          </a:xfrm>
          <a:prstGeom prst="rect">
            <a:avLst/>
          </a:prstGeom>
          <a:solidFill>
            <a:srgbClr val="1A2B5C"/>
          </a:solidFill>
          <a:ln/>
        </p:spPr>
        <p:txBody>
          <a:bodyPr/>
          <a:lstStyle/>
          <a:p>
            <a:endParaRPr lang="en-US"/>
          </a:p>
        </p:txBody>
      </p:sp>
      <p:sp>
        <p:nvSpPr>
          <p:cNvPr id="8" name="Text 2">
            <a:extLst>
              <a:ext uri="{FF2B5EF4-FFF2-40B4-BE49-F238E27FC236}">
                <a16:creationId xmlns:a16="http://schemas.microsoft.com/office/drawing/2014/main" id="{A84C8315-0CB8-4E82-2079-5D6C3CBD0AD1}"/>
              </a:ext>
            </a:extLst>
          </p:cNvPr>
          <p:cNvSpPr/>
          <p:nvPr/>
        </p:nvSpPr>
        <p:spPr>
          <a:xfrm>
            <a:off x="365760" y="25014"/>
            <a:ext cx="8784534" cy="864372"/>
          </a:xfrm>
          <a:prstGeom prst="rect">
            <a:avLst/>
          </a:prstGeom>
          <a:noFill/>
          <a:ln/>
        </p:spPr>
        <p:txBody>
          <a:bodyPr wrap="square" lIns="91440" tIns="45720" rIns="91440" bIns="45720" rtlCol="0" anchor="ctr"/>
          <a:lstStyle/>
          <a:p>
            <a:r>
              <a:rPr lang="en-US" sz="3200" b="1">
                <a:solidFill>
                  <a:srgbClr val="FFFFFF"/>
                </a:solidFill>
                <a:ea typeface="Calibri"/>
                <a:cs typeface="Calibri"/>
              </a:rPr>
              <a:t>Customer Health</a:t>
            </a:r>
            <a:endParaRPr lang="en-US"/>
          </a:p>
        </p:txBody>
      </p:sp>
      <p:pic>
        <p:nvPicPr>
          <p:cNvPr id="3" name="Picture 2">
            <a:extLst>
              <a:ext uri="{FF2B5EF4-FFF2-40B4-BE49-F238E27FC236}">
                <a16:creationId xmlns:a16="http://schemas.microsoft.com/office/drawing/2014/main" id="{0FC6337A-F123-7407-5368-E810A916D2F6}"/>
              </a:ext>
            </a:extLst>
          </p:cNvPr>
          <p:cNvPicPr>
            <a:picLocks noChangeAspect="1"/>
          </p:cNvPicPr>
          <p:nvPr/>
        </p:nvPicPr>
        <p:blipFill>
          <a:blip r:embed="rId2"/>
          <a:stretch>
            <a:fillRect/>
          </a:stretch>
        </p:blipFill>
        <p:spPr>
          <a:xfrm>
            <a:off x="4762987" y="1287945"/>
            <a:ext cx="4380526" cy="3317185"/>
          </a:xfrm>
          <a:prstGeom prst="rect">
            <a:avLst/>
          </a:prstGeom>
        </p:spPr>
      </p:pic>
      <p:sp>
        <p:nvSpPr>
          <p:cNvPr id="7" name="TextBox 6">
            <a:extLst>
              <a:ext uri="{FF2B5EF4-FFF2-40B4-BE49-F238E27FC236}">
                <a16:creationId xmlns:a16="http://schemas.microsoft.com/office/drawing/2014/main" id="{0D03F0A3-AFE2-5B5D-3F1B-9EDEE4B2D98E}"/>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ea typeface="Calibri"/>
                <a:cs typeface="Calibri"/>
              </a:rPr>
              <a:t>13</a:t>
            </a:r>
          </a:p>
        </p:txBody>
      </p:sp>
      <p:pic>
        <p:nvPicPr>
          <p:cNvPr id="12" name="Picture 11" descr="A screenshot of a graph&#10;&#10;AI-generated content may be incorrect.">
            <a:extLst>
              <a:ext uri="{FF2B5EF4-FFF2-40B4-BE49-F238E27FC236}">
                <a16:creationId xmlns:a16="http://schemas.microsoft.com/office/drawing/2014/main" id="{C539C0B2-4E68-213D-0CE6-EA8C4BFA710F}"/>
              </a:ext>
            </a:extLst>
          </p:cNvPr>
          <p:cNvPicPr>
            <a:picLocks noChangeAspect="1"/>
          </p:cNvPicPr>
          <p:nvPr/>
        </p:nvPicPr>
        <p:blipFill>
          <a:blip r:embed="rId3"/>
          <a:stretch>
            <a:fillRect/>
          </a:stretch>
        </p:blipFill>
        <p:spPr>
          <a:xfrm>
            <a:off x="231493" y="1535768"/>
            <a:ext cx="4731153" cy="2643463"/>
          </a:xfrm>
          <a:prstGeom prst="rect">
            <a:avLst/>
          </a:prstGeom>
        </p:spPr>
      </p:pic>
    </p:spTree>
    <p:extLst>
      <p:ext uri="{BB962C8B-B14F-4D97-AF65-F5344CB8AC3E}">
        <p14:creationId xmlns:p14="http://schemas.microsoft.com/office/powerpoint/2010/main" val="141312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A6752E2C-0464-1D36-69EA-C8CCFF61FF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104A81-C36D-3BB8-6F03-055BF0546747}"/>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1D211D44-F2F6-5905-5BC1-061E255A7F72}"/>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3B6D6BD6-E23B-8EFB-527F-7826FD47FED0}"/>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RFM Segmentation</a:t>
            </a:r>
            <a:endParaRPr lang="en-US" sz="3200"/>
          </a:p>
        </p:txBody>
      </p:sp>
      <p:pic>
        <p:nvPicPr>
          <p:cNvPr id="5" name="Picture 4">
            <a:extLst>
              <a:ext uri="{FF2B5EF4-FFF2-40B4-BE49-F238E27FC236}">
                <a16:creationId xmlns:a16="http://schemas.microsoft.com/office/drawing/2014/main" id="{28139C19-4DA2-165E-F504-6D40DDEFEDC9}"/>
              </a:ext>
            </a:extLst>
          </p:cNvPr>
          <p:cNvPicPr>
            <a:picLocks noChangeAspect="1"/>
          </p:cNvPicPr>
          <p:nvPr/>
        </p:nvPicPr>
        <p:blipFill>
          <a:blip r:embed="rId3"/>
          <a:srcRect r="1717"/>
          <a:stretch>
            <a:fillRect/>
          </a:stretch>
        </p:blipFill>
        <p:spPr>
          <a:xfrm>
            <a:off x="1176469" y="960120"/>
            <a:ext cx="6791062" cy="4118388"/>
          </a:xfrm>
          <a:prstGeom prst="rect">
            <a:avLst/>
          </a:prstGeom>
        </p:spPr>
      </p:pic>
      <p:sp>
        <p:nvSpPr>
          <p:cNvPr id="6" name="TextBox 5">
            <a:extLst>
              <a:ext uri="{FF2B5EF4-FFF2-40B4-BE49-F238E27FC236}">
                <a16:creationId xmlns:a16="http://schemas.microsoft.com/office/drawing/2014/main" id="{621E2754-F928-765B-2FEC-B48F03B73007}"/>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14</a:t>
            </a:r>
          </a:p>
        </p:txBody>
      </p:sp>
      <p:pic>
        <p:nvPicPr>
          <p:cNvPr id="8" name="Picture 7" descr="A diagram of a customer relationship&#10;&#10;AI-generated content may be incorrect.">
            <a:extLst>
              <a:ext uri="{FF2B5EF4-FFF2-40B4-BE49-F238E27FC236}">
                <a16:creationId xmlns:a16="http://schemas.microsoft.com/office/drawing/2014/main" id="{6D9D4707-CEBB-CA88-7D59-442D86FA2BCC}"/>
              </a:ext>
            </a:extLst>
          </p:cNvPr>
          <p:cNvPicPr>
            <a:picLocks noChangeAspect="1"/>
          </p:cNvPicPr>
          <p:nvPr/>
        </p:nvPicPr>
        <p:blipFill>
          <a:blip r:embed="rId4"/>
          <a:stretch>
            <a:fillRect/>
          </a:stretch>
        </p:blipFill>
        <p:spPr>
          <a:xfrm>
            <a:off x="1308188" y="2573166"/>
            <a:ext cx="3178724" cy="2044231"/>
          </a:xfrm>
          <a:prstGeom prst="rect">
            <a:avLst/>
          </a:prstGeom>
        </p:spPr>
      </p:pic>
    </p:spTree>
    <p:extLst>
      <p:ext uri="{BB962C8B-B14F-4D97-AF65-F5344CB8AC3E}">
        <p14:creationId xmlns:p14="http://schemas.microsoft.com/office/powerpoint/2010/main" val="1573506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74442B69-6D8F-6E71-1C1C-103BC3A35C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324851B-0268-08FE-5E2D-CAE91E4513AF}"/>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BCFF666D-62B5-F69B-AC8C-C1ED4020E346}"/>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46D29A40-46C1-7657-5287-CB186DBEABDE}"/>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Forecasting Model</a:t>
            </a:r>
            <a:endParaRPr lang="en-US" sz="3200" b="1">
              <a:ea typeface="Calibri"/>
              <a:cs typeface="Calibri"/>
            </a:endParaRPr>
          </a:p>
        </p:txBody>
      </p:sp>
      <p:sp>
        <p:nvSpPr>
          <p:cNvPr id="7" name="Text 5">
            <a:extLst>
              <a:ext uri="{FF2B5EF4-FFF2-40B4-BE49-F238E27FC236}">
                <a16:creationId xmlns:a16="http://schemas.microsoft.com/office/drawing/2014/main" id="{037B8002-3E97-BE3F-DEB3-29DDB6F9A74B}"/>
              </a:ext>
            </a:extLst>
          </p:cNvPr>
          <p:cNvSpPr/>
          <p:nvPr/>
        </p:nvSpPr>
        <p:spPr>
          <a:xfrm>
            <a:off x="362125" y="1151128"/>
            <a:ext cx="3878675" cy="2175272"/>
          </a:xfrm>
          <a:prstGeom prst="rect">
            <a:avLst/>
          </a:prstGeom>
          <a:noFill/>
          <a:ln/>
        </p:spPr>
        <p:txBody>
          <a:bodyPr wrap="square" lIns="0" tIns="0" rIns="0" bIns="0" rtlCol="0" anchor="ctr"/>
          <a:lstStyle/>
          <a:p>
            <a:r>
              <a:rPr lang="en-US" sz="1500">
                <a:ea typeface="+mn-lt"/>
                <a:cs typeface="+mn-lt"/>
              </a:rPr>
              <a:t>Feature Inputs</a:t>
            </a:r>
          </a:p>
          <a:p>
            <a:pPr marL="285750" indent="-285750">
              <a:buFont typeface="Arial"/>
              <a:buChar char="•"/>
            </a:pPr>
            <a:r>
              <a:rPr lang="en-US" sz="1500">
                <a:ea typeface="+mn-lt"/>
                <a:cs typeface="+mn-lt"/>
              </a:rPr>
              <a:t>Order Dates</a:t>
            </a:r>
          </a:p>
          <a:p>
            <a:pPr marL="285750" indent="-285750">
              <a:buFont typeface="Arial"/>
              <a:buChar char="•"/>
            </a:pPr>
            <a:r>
              <a:rPr lang="en-US" sz="1500">
                <a:ea typeface="+mn-lt"/>
                <a:cs typeface="+mn-lt"/>
              </a:rPr>
              <a:t>Product Categories </a:t>
            </a:r>
          </a:p>
          <a:p>
            <a:pPr marL="285750" indent="-285750">
              <a:buFont typeface="Arial"/>
              <a:buChar char="•"/>
            </a:pPr>
            <a:r>
              <a:rPr lang="en-US" sz="1500">
                <a:ea typeface="+mn-lt"/>
                <a:cs typeface="+mn-lt"/>
              </a:rPr>
              <a:t>Dynamic Features: </a:t>
            </a:r>
          </a:p>
          <a:p>
            <a:pPr marL="742950" lvl="1" indent="-285750">
              <a:buFont typeface="Courier New"/>
              <a:buChar char="o"/>
            </a:pPr>
            <a:r>
              <a:rPr lang="en-US" sz="1500">
                <a:ea typeface="+mn-lt"/>
                <a:cs typeface="+mn-lt"/>
              </a:rPr>
              <a:t>Price-Cost Spread</a:t>
            </a:r>
          </a:p>
          <a:p>
            <a:pPr marL="742950" lvl="1" indent="-285750">
              <a:buFont typeface="Courier New"/>
              <a:buChar char="o"/>
            </a:pPr>
            <a:r>
              <a:rPr lang="en-US" sz="1500">
                <a:ea typeface="+mn-lt"/>
                <a:cs typeface="+mn-lt"/>
              </a:rPr>
              <a:t>Lag Features (t-1,t-3)</a:t>
            </a:r>
          </a:p>
          <a:p>
            <a:pPr marL="742950" lvl="1" indent="-285750">
              <a:buFont typeface="Courier New"/>
              <a:buChar char="o"/>
            </a:pPr>
            <a:r>
              <a:rPr lang="en-US" sz="1500">
                <a:ea typeface="+mn-lt"/>
                <a:cs typeface="+mn-lt"/>
              </a:rPr>
              <a:t>Sales Volume</a:t>
            </a:r>
          </a:p>
          <a:p>
            <a:pPr marL="742950" lvl="1" indent="-285750">
              <a:buFont typeface="Courier New"/>
              <a:buChar char="o"/>
            </a:pPr>
            <a:r>
              <a:rPr lang="en-US" sz="1500">
                <a:ea typeface="+mn-lt"/>
                <a:cs typeface="+mn-lt"/>
              </a:rPr>
              <a:t>Time Index</a:t>
            </a:r>
          </a:p>
          <a:p>
            <a:pPr marL="742950" lvl="1" indent="-285750">
              <a:buFont typeface="Courier New"/>
              <a:buChar char="o"/>
            </a:pPr>
            <a:r>
              <a:rPr lang="en-US" sz="1500">
                <a:ea typeface="+mn-lt"/>
                <a:cs typeface="+mn-lt"/>
              </a:rPr>
              <a:t>Month &amp; Quarter</a:t>
            </a:r>
          </a:p>
          <a:p>
            <a:endParaRPr lang="en-US" sz="1500">
              <a:ea typeface="Calibri"/>
              <a:cs typeface="Calibri"/>
            </a:endParaRPr>
          </a:p>
        </p:txBody>
      </p:sp>
      <p:pic>
        <p:nvPicPr>
          <p:cNvPr id="6" name="Picture 5">
            <a:extLst>
              <a:ext uri="{FF2B5EF4-FFF2-40B4-BE49-F238E27FC236}">
                <a16:creationId xmlns:a16="http://schemas.microsoft.com/office/drawing/2014/main" id="{14F36468-4424-05D0-D88B-36C97C4D7917}"/>
              </a:ext>
            </a:extLst>
          </p:cNvPr>
          <p:cNvPicPr>
            <a:picLocks noChangeAspect="1"/>
          </p:cNvPicPr>
          <p:nvPr/>
        </p:nvPicPr>
        <p:blipFill>
          <a:blip r:embed="rId3"/>
          <a:srcRect l="654" t="1553" r="1" b="2173"/>
          <a:stretch>
            <a:fillRect/>
          </a:stretch>
        </p:blipFill>
        <p:spPr>
          <a:xfrm>
            <a:off x="2857500" y="2378392"/>
            <a:ext cx="6113700" cy="2534257"/>
          </a:xfrm>
          <a:prstGeom prst="rect">
            <a:avLst/>
          </a:prstGeom>
        </p:spPr>
      </p:pic>
      <p:sp>
        <p:nvSpPr>
          <p:cNvPr id="8" name="TextBox 7">
            <a:extLst>
              <a:ext uri="{FF2B5EF4-FFF2-40B4-BE49-F238E27FC236}">
                <a16:creationId xmlns:a16="http://schemas.microsoft.com/office/drawing/2014/main" id="{EAA7937C-D3C2-0E08-29C8-B609A875FC90}"/>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15</a:t>
            </a:r>
          </a:p>
        </p:txBody>
      </p:sp>
    </p:spTree>
    <p:extLst>
      <p:ext uri="{BB962C8B-B14F-4D97-AF65-F5344CB8AC3E}">
        <p14:creationId xmlns:p14="http://schemas.microsoft.com/office/powerpoint/2010/main" val="1672827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3753DE85-E055-32AE-C50E-5A396C65A52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4E7592F-5C47-5A89-BDD1-F78C0CA89F2B}"/>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CEF0E935-070E-903E-B4F7-A49A8477FBE5}"/>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E89D856E-FC0A-B95C-2614-AC80B8DABB3C}"/>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ea typeface="Calibri"/>
                <a:cs typeface="Calibri"/>
              </a:rPr>
              <a:t>Chatbot Functionality and UI</a:t>
            </a:r>
          </a:p>
        </p:txBody>
      </p:sp>
      <p:sp>
        <p:nvSpPr>
          <p:cNvPr id="6" name="TextBox 5">
            <a:extLst>
              <a:ext uri="{FF2B5EF4-FFF2-40B4-BE49-F238E27FC236}">
                <a16:creationId xmlns:a16="http://schemas.microsoft.com/office/drawing/2014/main" id="{C2898506-1647-0C61-688B-78B4D92C8EEC}"/>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16</a:t>
            </a:r>
          </a:p>
        </p:txBody>
      </p:sp>
      <p:pic>
        <p:nvPicPr>
          <p:cNvPr id="7" name="Picture 6" descr="A screenshot of a chat&#10;&#10;AI-generated content may be incorrect.">
            <a:extLst>
              <a:ext uri="{FF2B5EF4-FFF2-40B4-BE49-F238E27FC236}">
                <a16:creationId xmlns:a16="http://schemas.microsoft.com/office/drawing/2014/main" id="{536093EC-C4C5-F16C-DCE0-4564569F995C}"/>
              </a:ext>
            </a:extLst>
          </p:cNvPr>
          <p:cNvPicPr>
            <a:picLocks noChangeAspect="1"/>
          </p:cNvPicPr>
          <p:nvPr/>
        </p:nvPicPr>
        <p:blipFill>
          <a:blip r:embed="rId3"/>
          <a:srcRect r="2595"/>
          <a:stretch>
            <a:fillRect/>
          </a:stretch>
        </p:blipFill>
        <p:spPr>
          <a:xfrm>
            <a:off x="2994616" y="951351"/>
            <a:ext cx="2971888" cy="4155198"/>
          </a:xfrm>
          <a:prstGeom prst="rect">
            <a:avLst/>
          </a:prstGeom>
        </p:spPr>
      </p:pic>
    </p:spTree>
    <p:extLst>
      <p:ext uri="{BB962C8B-B14F-4D97-AF65-F5344CB8AC3E}">
        <p14:creationId xmlns:p14="http://schemas.microsoft.com/office/powerpoint/2010/main" val="2928456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F2B17D59-8DCC-B1B0-FF5B-02864D1087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C3DCE7-A44C-0358-BE98-5E867B58A62B}"/>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486B6A7A-B436-9472-702E-51F3EC1F6B98}"/>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4C46081E-5224-BEF1-0360-337C50715C28}"/>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ea typeface="Calibri"/>
                <a:cs typeface="Calibri"/>
              </a:rPr>
              <a:t>Learning Achievements</a:t>
            </a:r>
          </a:p>
        </p:txBody>
      </p:sp>
      <p:sp>
        <p:nvSpPr>
          <p:cNvPr id="6" name="TextBox 5">
            <a:extLst>
              <a:ext uri="{FF2B5EF4-FFF2-40B4-BE49-F238E27FC236}">
                <a16:creationId xmlns:a16="http://schemas.microsoft.com/office/drawing/2014/main" id="{4F38109A-0C5A-64E9-47DC-BDA410A9BB2F}"/>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17</a:t>
            </a:r>
          </a:p>
        </p:txBody>
      </p:sp>
      <p:sp>
        <p:nvSpPr>
          <p:cNvPr id="8" name="TextBox 7">
            <a:extLst>
              <a:ext uri="{FF2B5EF4-FFF2-40B4-BE49-F238E27FC236}">
                <a16:creationId xmlns:a16="http://schemas.microsoft.com/office/drawing/2014/main" id="{B8BD741A-00B5-67F0-D945-01584478ED59}"/>
              </a:ext>
            </a:extLst>
          </p:cNvPr>
          <p:cNvSpPr txBox="1"/>
          <p:nvPr/>
        </p:nvSpPr>
        <p:spPr>
          <a:xfrm>
            <a:off x="250547" y="1193449"/>
            <a:ext cx="8894310" cy="44813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✅Acq</a:t>
            </a:r>
            <a:r>
              <a:rPr lang="en-US">
                <a:ea typeface="+mn-lt"/>
                <a:cs typeface="+mn-lt"/>
              </a:rPr>
              <a:t>uired practical fluency across core </a:t>
            </a:r>
            <a:r>
              <a:rPr lang="en-US" b="1">
                <a:ea typeface="+mn-lt"/>
                <a:cs typeface="+mn-lt"/>
              </a:rPr>
              <a:t>AWS services and cloud deployment</a:t>
            </a:r>
            <a:r>
              <a:rPr lang="en-US">
                <a:ea typeface="+mn-lt"/>
                <a:cs typeface="+mn-lt"/>
              </a:rPr>
              <a:t> practices.</a:t>
            </a:r>
            <a:endParaRPr lang="en-US" b="1">
              <a:ea typeface="Calibri"/>
              <a:cs typeface="Calibri"/>
            </a:endParaRPr>
          </a:p>
          <a:p>
            <a:pPr>
              <a:lnSpc>
                <a:spcPct val="150000"/>
              </a:lnSpc>
            </a:pPr>
            <a:r>
              <a:rPr lang="en-US">
                <a:ea typeface="+mn-lt"/>
                <a:cs typeface="+mn-lt"/>
              </a:rPr>
              <a:t>✅ Established </a:t>
            </a:r>
            <a:r>
              <a:rPr lang="en-US" b="1">
                <a:ea typeface="+mn-lt"/>
                <a:cs typeface="+mn-lt"/>
              </a:rPr>
              <a:t>SageMaker endpoints</a:t>
            </a:r>
            <a:r>
              <a:rPr lang="en-US">
                <a:ea typeface="+mn-lt"/>
                <a:cs typeface="+mn-lt"/>
              </a:rPr>
              <a:t> — listing, describing, invoking, reading</a:t>
            </a:r>
            <a:endParaRPr lang="en-US">
              <a:ea typeface="Calibri"/>
              <a:cs typeface="Calibri"/>
            </a:endParaRPr>
          </a:p>
          <a:p>
            <a:pPr>
              <a:lnSpc>
                <a:spcPct val="150000"/>
              </a:lnSpc>
            </a:pPr>
            <a:r>
              <a:rPr lang="en-US">
                <a:ea typeface="+mn-lt"/>
                <a:cs typeface="+mn-lt"/>
              </a:rPr>
              <a:t>✅ Learned to</a:t>
            </a:r>
            <a:r>
              <a:rPr lang="en-US" b="1">
                <a:ea typeface="+mn-lt"/>
                <a:cs typeface="+mn-lt"/>
              </a:rPr>
              <a:t> inspect and finetune</a:t>
            </a:r>
            <a:r>
              <a:rPr lang="en-US">
                <a:ea typeface="+mn-lt"/>
                <a:cs typeface="+mn-lt"/>
              </a:rPr>
              <a:t> a deployed </a:t>
            </a:r>
            <a:r>
              <a:rPr lang="en-US" b="1">
                <a:ea typeface="+mn-lt"/>
                <a:cs typeface="+mn-lt"/>
              </a:rPr>
              <a:t>Machine Learning model </a:t>
            </a:r>
            <a:endParaRPr lang="en-US" b="1">
              <a:ea typeface="Calibri"/>
              <a:cs typeface="Calibri"/>
            </a:endParaRPr>
          </a:p>
          <a:p>
            <a:pPr>
              <a:lnSpc>
                <a:spcPct val="150000"/>
              </a:lnSpc>
            </a:pPr>
            <a:r>
              <a:rPr lang="en-US">
                <a:ea typeface="+mn-lt"/>
                <a:cs typeface="+mn-lt"/>
              </a:rPr>
              <a:t>✅ Built and connected front-end </a:t>
            </a:r>
            <a:r>
              <a:rPr lang="en-US" b="1">
                <a:ea typeface="+mn-lt"/>
                <a:cs typeface="+mn-lt"/>
              </a:rPr>
              <a:t>nested React Router routes</a:t>
            </a:r>
            <a:r>
              <a:rPr lang="en-US">
                <a:ea typeface="+mn-lt"/>
                <a:cs typeface="+mn-lt"/>
              </a:rPr>
              <a:t> Integrated with </a:t>
            </a:r>
            <a:r>
              <a:rPr lang="en-US" b="1">
                <a:ea typeface="+mn-lt"/>
                <a:cs typeface="+mn-lt"/>
              </a:rPr>
              <a:t>ML models</a:t>
            </a:r>
            <a:endParaRPr lang="en-US" b="1">
              <a:ea typeface="Calibri" panose="020F0502020204030204"/>
              <a:cs typeface="Calibri" panose="020F0502020204030204"/>
            </a:endParaRPr>
          </a:p>
          <a:p>
            <a:pPr>
              <a:lnSpc>
                <a:spcPct val="150000"/>
              </a:lnSpc>
            </a:pPr>
            <a:r>
              <a:rPr lang="en-US">
                <a:ea typeface="+mn-lt"/>
                <a:cs typeface="+mn-lt"/>
              </a:rPr>
              <a:t>✅ Expanded AI Agent creation with </a:t>
            </a:r>
            <a:r>
              <a:rPr lang="en-US" b="1">
                <a:ea typeface="+mn-lt"/>
                <a:cs typeface="+mn-lt"/>
              </a:rPr>
              <a:t>Bedrock.js </a:t>
            </a:r>
            <a:endParaRPr lang="en-US" b="1">
              <a:ea typeface="Calibri" panose="020F0502020204030204"/>
              <a:cs typeface="Calibri" panose="020F0502020204030204"/>
            </a:endParaRPr>
          </a:p>
          <a:p>
            <a:pPr>
              <a:lnSpc>
                <a:spcPct val="150000"/>
              </a:lnSpc>
            </a:pPr>
            <a:r>
              <a:rPr lang="en-US">
                <a:ea typeface="+mn-lt"/>
                <a:cs typeface="+mn-lt"/>
              </a:rPr>
              <a:t>✅ Constructed data visualizations using </a:t>
            </a:r>
            <a:r>
              <a:rPr lang="en-US" b="1">
                <a:ea typeface="+mn-lt"/>
                <a:cs typeface="+mn-lt"/>
              </a:rPr>
              <a:t>CSS and React</a:t>
            </a:r>
          </a:p>
          <a:p>
            <a:pPr>
              <a:lnSpc>
                <a:spcPct val="150000"/>
              </a:lnSpc>
            </a:pPr>
            <a:r>
              <a:rPr lang="en-US">
                <a:ea typeface="+mn-lt"/>
                <a:cs typeface="+mn-lt"/>
              </a:rPr>
              <a:t>✅ Connected </a:t>
            </a:r>
            <a:r>
              <a:rPr lang="en-US" b="1">
                <a:ea typeface="+mn-lt"/>
                <a:cs typeface="+mn-lt"/>
              </a:rPr>
              <a:t>clustering, churn, and forecasting predictions</a:t>
            </a:r>
            <a:r>
              <a:rPr lang="en-US">
                <a:ea typeface="+mn-lt"/>
                <a:cs typeface="+mn-lt"/>
              </a:rPr>
              <a:t> concepts to visualized customer segmentation</a:t>
            </a:r>
            <a:endParaRPr lang="en-US">
              <a:ea typeface="Calibri" panose="020F0502020204030204"/>
              <a:cs typeface="Calibri" panose="020F0502020204030204"/>
            </a:endParaRPr>
          </a:p>
          <a:p>
            <a:pPr>
              <a:lnSpc>
                <a:spcPct val="150000"/>
              </a:lnSpc>
            </a:pPr>
            <a:endParaRPr lang="en-US" b="1">
              <a:ea typeface="Calibri"/>
              <a:cs typeface="Calibri"/>
            </a:endParaRPr>
          </a:p>
          <a:p>
            <a:pPr>
              <a:lnSpc>
                <a:spcPct val="150000"/>
              </a:lnSpc>
            </a:pPr>
            <a:endParaRPr lang="en-US">
              <a:ea typeface="Calibri" panose="020F0502020204030204"/>
              <a:cs typeface="Calibri" panose="020F0502020204030204"/>
            </a:endParaRPr>
          </a:p>
          <a:p>
            <a:pPr>
              <a:lnSpc>
                <a:spcPct val="150000"/>
              </a:lnSpc>
            </a:pPr>
            <a:endParaRPr lang="en-US">
              <a:ea typeface="Calibri" panose="020F0502020204030204"/>
              <a:cs typeface="Calibri" panose="020F0502020204030204"/>
            </a:endParaRPr>
          </a:p>
        </p:txBody>
      </p:sp>
    </p:spTree>
    <p:extLst>
      <p:ext uri="{BB962C8B-B14F-4D97-AF65-F5344CB8AC3E}">
        <p14:creationId xmlns:p14="http://schemas.microsoft.com/office/powerpoint/2010/main" val="1947463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C"/>
        </a:solidFill>
        <a:effectLst/>
      </p:bgPr>
    </p:bg>
    <p:spTree>
      <p:nvGrpSpPr>
        <p:cNvPr id="1" name="">
          <a:extLst>
            <a:ext uri="{FF2B5EF4-FFF2-40B4-BE49-F238E27FC236}">
              <a16:creationId xmlns:a16="http://schemas.microsoft.com/office/drawing/2014/main" id="{5DACA66E-9625-FBCB-EDE6-EC1DC1A507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00D46F-4F3B-DBB8-0405-11E5D86AC784}"/>
              </a:ext>
            </a:extLst>
          </p:cNvPr>
          <p:cNvSpPr/>
          <p:nvPr/>
        </p:nvSpPr>
        <p:spPr>
          <a:xfrm>
            <a:off x="0" y="0"/>
            <a:ext cx="137160" cy="5143500"/>
          </a:xfrm>
          <a:prstGeom prst="rect">
            <a:avLst/>
          </a:prstGeom>
          <a:solidFill>
            <a:srgbClr val="0D9488"/>
          </a:solidFill>
          <a:ln/>
        </p:spPr>
        <p:txBody>
          <a:bodyPr/>
          <a:lstStyle/>
          <a:p>
            <a:endParaRPr lang="en-US"/>
          </a:p>
        </p:txBody>
      </p:sp>
      <p:sp>
        <p:nvSpPr>
          <p:cNvPr id="3" name="Shape 1">
            <a:extLst>
              <a:ext uri="{FF2B5EF4-FFF2-40B4-BE49-F238E27FC236}">
                <a16:creationId xmlns:a16="http://schemas.microsoft.com/office/drawing/2014/main" id="{51D978A2-7129-892A-D824-16E6F318F8F7}"/>
              </a:ext>
            </a:extLst>
          </p:cNvPr>
          <p:cNvSpPr/>
          <p:nvPr/>
        </p:nvSpPr>
        <p:spPr>
          <a:xfrm>
            <a:off x="137160" y="0"/>
            <a:ext cx="9006840" cy="914400"/>
          </a:xfrm>
          <a:prstGeom prst="rect">
            <a:avLst/>
          </a:prstGeom>
          <a:solidFill>
            <a:srgbClr val="1A2B5C"/>
          </a:solidFill>
          <a:ln/>
        </p:spPr>
        <p:txBody>
          <a:bodyPr/>
          <a:lstStyle/>
          <a:p>
            <a:endParaRPr lang="en-US"/>
          </a:p>
        </p:txBody>
      </p:sp>
      <p:sp>
        <p:nvSpPr>
          <p:cNvPr id="4" name="Text 2">
            <a:extLst>
              <a:ext uri="{FF2B5EF4-FFF2-40B4-BE49-F238E27FC236}">
                <a16:creationId xmlns:a16="http://schemas.microsoft.com/office/drawing/2014/main" id="{7B407393-08F1-44C1-5503-B71093FA7ED9}"/>
              </a:ext>
            </a:extLst>
          </p:cNvPr>
          <p:cNvSpPr/>
          <p:nvPr/>
        </p:nvSpPr>
        <p:spPr>
          <a:xfrm>
            <a:off x="365760" y="45720"/>
            <a:ext cx="8229600" cy="822960"/>
          </a:xfrm>
          <a:prstGeom prst="rect">
            <a:avLst/>
          </a:prstGeom>
          <a:noFill/>
          <a:ln/>
        </p:spPr>
        <p:txBody>
          <a:bodyPr wrap="square" lIns="91440" tIns="45720" rIns="91440" bIns="45720" rtlCol="0" anchor="ctr"/>
          <a:lstStyle/>
          <a:p>
            <a:r>
              <a:rPr lang="en-US" sz="3200" b="1">
                <a:solidFill>
                  <a:srgbClr val="FFFFFF"/>
                </a:solidFill>
              </a:rPr>
              <a:t>Accomplishments</a:t>
            </a:r>
            <a:endParaRPr lang="en-US" sz="3200" b="1">
              <a:solidFill>
                <a:srgbClr val="FFFFFF"/>
              </a:solidFill>
              <a:ea typeface="Calibri"/>
              <a:cs typeface="Calibri"/>
            </a:endParaRPr>
          </a:p>
        </p:txBody>
      </p:sp>
      <p:sp>
        <p:nvSpPr>
          <p:cNvPr id="7" name="Text 5">
            <a:extLst>
              <a:ext uri="{FF2B5EF4-FFF2-40B4-BE49-F238E27FC236}">
                <a16:creationId xmlns:a16="http://schemas.microsoft.com/office/drawing/2014/main" id="{28E78764-3AF8-B84E-4448-7119D6121907}"/>
              </a:ext>
            </a:extLst>
          </p:cNvPr>
          <p:cNvSpPr/>
          <p:nvPr/>
        </p:nvSpPr>
        <p:spPr>
          <a:xfrm>
            <a:off x="361028" y="2015232"/>
            <a:ext cx="3868989" cy="3429660"/>
          </a:xfrm>
          <a:prstGeom prst="rect">
            <a:avLst/>
          </a:prstGeom>
          <a:noFill/>
          <a:ln/>
        </p:spPr>
        <p:txBody>
          <a:bodyPr wrap="square" lIns="0" tIns="0" rIns="0" bIns="0" rtlCol="0" anchor="ctr"/>
          <a:lstStyle/>
          <a:p>
            <a:endParaRPr lang="en-US" sz="1500">
              <a:ea typeface="Calibri" panose="020F0502020204030204"/>
              <a:cs typeface="Calibri" panose="020F0502020204030204"/>
            </a:endParaRPr>
          </a:p>
          <a:p>
            <a:pPr marL="285750" indent="-285750">
              <a:buFont typeface="Arial"/>
              <a:buChar char="•"/>
            </a:pPr>
            <a:r>
              <a:rPr lang="en-US">
                <a:ea typeface="Calibri" panose="020F0502020204030204"/>
                <a:cs typeface="Calibri" panose="020F0502020204030204"/>
              </a:rPr>
              <a:t>An</a:t>
            </a:r>
            <a:r>
              <a:rPr lang="en-US" b="1">
                <a:ea typeface="Calibri" panose="020F0502020204030204"/>
                <a:cs typeface="Calibri" panose="020F0502020204030204"/>
              </a:rPr>
              <a:t> end-to-end product</a:t>
            </a:r>
            <a:r>
              <a:rPr lang="en-US">
                <a:ea typeface="Calibri" panose="020F0502020204030204"/>
                <a:cs typeface="Calibri" panose="020F0502020204030204"/>
              </a:rPr>
              <a:t> that displays customer and product segmentation and forecasting.</a:t>
            </a:r>
          </a:p>
          <a:p>
            <a:endParaRPr lang="en-US">
              <a:ea typeface="Calibri" panose="020F0502020204030204"/>
              <a:cs typeface="Calibri" panose="020F0502020204030204"/>
            </a:endParaRPr>
          </a:p>
          <a:p>
            <a:pPr marL="285750" indent="-285750">
              <a:buFont typeface="Arial"/>
              <a:buChar char="•"/>
            </a:pPr>
            <a:r>
              <a:rPr lang="en-US" b="1">
                <a:ea typeface="Calibri" panose="020F0502020204030204"/>
                <a:cs typeface="Calibri" panose="020F0502020204030204"/>
              </a:rPr>
              <a:t>Key Features: </a:t>
            </a:r>
          </a:p>
          <a:p>
            <a:pPr marL="742950" lvl="1" indent="-285750">
              <a:buFont typeface="Arial"/>
              <a:buChar char="•"/>
            </a:pPr>
            <a:r>
              <a:rPr lang="en-US">
                <a:ea typeface="Calibri" panose="020F0502020204030204"/>
                <a:cs typeface="Calibri" panose="020F0502020204030204"/>
              </a:rPr>
              <a:t>Ability to pull from a database (S3 Bucket) and to use </a:t>
            </a:r>
            <a:r>
              <a:rPr lang="en-US" b="1">
                <a:ea typeface="Calibri" panose="020F0502020204030204"/>
                <a:cs typeface="Calibri" panose="020F0502020204030204"/>
              </a:rPr>
              <a:t>AI Chatbot</a:t>
            </a:r>
            <a:r>
              <a:rPr lang="en-US">
                <a:ea typeface="Calibri" panose="020F0502020204030204"/>
                <a:cs typeface="Calibri" panose="020F0502020204030204"/>
              </a:rPr>
              <a:t> for queries. </a:t>
            </a:r>
          </a:p>
          <a:p>
            <a:pPr marL="742950" lvl="1" indent="-285750">
              <a:buFont typeface="Arial"/>
              <a:buChar char="•"/>
            </a:pPr>
            <a:r>
              <a:rPr lang="en-US">
                <a:ea typeface="Calibri" panose="020F0502020204030204"/>
                <a:cs typeface="Calibri" panose="020F0502020204030204"/>
              </a:rPr>
              <a:t>Ability to use </a:t>
            </a:r>
            <a:r>
              <a:rPr lang="en-US" b="1">
                <a:ea typeface="Calibri" panose="020F0502020204030204"/>
                <a:cs typeface="Calibri" panose="020F0502020204030204"/>
              </a:rPr>
              <a:t>Machine Learning Models</a:t>
            </a:r>
            <a:r>
              <a:rPr lang="en-US">
                <a:ea typeface="Calibri" panose="020F0502020204030204"/>
                <a:cs typeface="Calibri" panose="020F0502020204030204"/>
              </a:rPr>
              <a:t> to present data that is digestible and simple for a non-expert in Business Analytics. </a:t>
            </a:r>
          </a:p>
          <a:p>
            <a:pPr marL="742950" lvl="1" indent="-285750">
              <a:buFont typeface="Arial"/>
              <a:buChar char="•"/>
            </a:pPr>
            <a:endParaRPr lang="en-US" sz="1500">
              <a:ea typeface="Calibri" panose="020F0502020204030204"/>
              <a:cs typeface="Calibri" panose="020F0502020204030204"/>
            </a:endParaRPr>
          </a:p>
          <a:p>
            <a:pPr marL="742950" lvl="1" indent="-285750">
              <a:buFont typeface="Arial"/>
              <a:buChar char="•"/>
            </a:pPr>
            <a:endParaRPr lang="en-US">
              <a:ea typeface="Calibri"/>
              <a:cs typeface="Calibri"/>
            </a:endParaRPr>
          </a:p>
          <a:p>
            <a:pPr marL="742950" lvl="1" indent="-285750">
              <a:buFont typeface="Arial"/>
              <a:buChar char="•"/>
            </a:pPr>
            <a:endParaRPr lang="en-US">
              <a:ea typeface="Calibri"/>
              <a:cs typeface="Calibri"/>
            </a:endParaRPr>
          </a:p>
          <a:p>
            <a:pPr lvl="1"/>
            <a:endParaRPr lang="en-US" sz="1500">
              <a:ea typeface="Calibri" panose="020F0502020204030204"/>
              <a:cs typeface="Calibri" panose="020F0502020204030204"/>
            </a:endParaRPr>
          </a:p>
          <a:p>
            <a:pPr lvl="1"/>
            <a:endParaRPr lang="en-US" sz="1500">
              <a:ea typeface="Calibri" panose="020F0502020204030204"/>
              <a:cs typeface="Calibri" panose="020F0502020204030204"/>
            </a:endParaRPr>
          </a:p>
          <a:p>
            <a:pPr lvl="1"/>
            <a:endParaRPr lang="en-US" sz="1500">
              <a:ea typeface="Calibri" panose="020F0502020204030204"/>
              <a:cs typeface="Calibri" panose="020F0502020204030204"/>
            </a:endParaRPr>
          </a:p>
          <a:p>
            <a:endParaRPr lang="en-US" sz="1500">
              <a:ea typeface="Calibri" panose="020F0502020204030204"/>
              <a:cs typeface="Calibri" panose="020F0502020204030204"/>
            </a:endParaRPr>
          </a:p>
        </p:txBody>
      </p:sp>
      <p:sp>
        <p:nvSpPr>
          <p:cNvPr id="8" name="TextBox 7">
            <a:extLst>
              <a:ext uri="{FF2B5EF4-FFF2-40B4-BE49-F238E27FC236}">
                <a16:creationId xmlns:a16="http://schemas.microsoft.com/office/drawing/2014/main" id="{DA720C62-15E6-5019-90DF-CC810E5546CC}"/>
              </a:ext>
            </a:extLst>
          </p:cNvPr>
          <p:cNvSpPr txBox="1"/>
          <p:nvPr/>
        </p:nvSpPr>
        <p:spPr>
          <a:xfrm>
            <a:off x="8542404" y="223231"/>
            <a:ext cx="575799" cy="553998"/>
          </a:xfrm>
          <a:prstGeom prst="rect">
            <a:avLst/>
          </a:prstGeom>
          <a:noFill/>
        </p:spPr>
        <p:txBody>
          <a:bodyPr wrap="none" lIns="91440" tIns="45720" rIns="91440" bIns="45720" rtlCol="0" anchor="t">
            <a:spAutoFit/>
          </a:bodyPr>
          <a:lstStyle/>
          <a:p>
            <a:r>
              <a:rPr lang="en-US" sz="3000">
                <a:solidFill>
                  <a:schemeClr val="bg1"/>
                </a:solidFill>
              </a:rPr>
              <a:t>18</a:t>
            </a:r>
          </a:p>
        </p:txBody>
      </p:sp>
      <p:pic>
        <p:nvPicPr>
          <p:cNvPr id="5" name="Picture 4" descr="A screenshot of a website&#10;&#10;AI-generated content may be incorrect.">
            <a:extLst>
              <a:ext uri="{FF2B5EF4-FFF2-40B4-BE49-F238E27FC236}">
                <a16:creationId xmlns:a16="http://schemas.microsoft.com/office/drawing/2014/main" id="{BC15A591-0DB5-D427-AAC1-D18A8EA3EF25}"/>
              </a:ext>
            </a:extLst>
          </p:cNvPr>
          <p:cNvPicPr>
            <a:picLocks noChangeAspect="1"/>
          </p:cNvPicPr>
          <p:nvPr/>
        </p:nvPicPr>
        <p:blipFill>
          <a:blip r:embed="rId3"/>
          <a:stretch>
            <a:fillRect/>
          </a:stretch>
        </p:blipFill>
        <p:spPr>
          <a:xfrm>
            <a:off x="4481763" y="1645070"/>
            <a:ext cx="4564481" cy="2380313"/>
          </a:xfrm>
          <a:prstGeom prst="rect">
            <a:avLst/>
          </a:prstGeom>
        </p:spPr>
      </p:pic>
    </p:spTree>
    <p:extLst>
      <p:ext uri="{BB962C8B-B14F-4D97-AF65-F5344CB8AC3E}">
        <p14:creationId xmlns:p14="http://schemas.microsoft.com/office/powerpoint/2010/main" val="1991123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111D40"/>
        </a:solidFill>
        <a:effectLst/>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p:spPr>
        <p:txBody>
          <a:bodyPr/>
          <a:lstStyle/>
          <a:p>
            <a:endParaRPr lang="en-US"/>
          </a:p>
        </p:txBody>
      </p:sp>
      <p:sp>
        <p:nvSpPr>
          <p:cNvPr id="5" name="Text 3"/>
          <p:cNvSpPr/>
          <p:nvPr/>
        </p:nvSpPr>
        <p:spPr>
          <a:xfrm>
            <a:off x="548640" y="1280160"/>
            <a:ext cx="8229600" cy="1005840"/>
          </a:xfrm>
          <a:prstGeom prst="rect">
            <a:avLst/>
          </a:prstGeom>
          <a:noFill/>
          <a:ln/>
        </p:spPr>
        <p:txBody>
          <a:bodyPr wrap="square" lIns="91440" tIns="45720" rIns="91440" bIns="45720" rtlCol="0" anchor="ctr"/>
          <a:lstStyle/>
          <a:p>
            <a:pPr marL="0" indent="0">
              <a:buNone/>
            </a:pPr>
            <a:r>
              <a:rPr lang="en-US" sz="5200" b="1">
                <a:solidFill>
                  <a:srgbClr val="FFFFFF"/>
                </a:solidFill>
                <a:latin typeface="Calibri"/>
                <a:ea typeface="Calibri"/>
                <a:cs typeface="Calibri"/>
              </a:rPr>
              <a:t>Thank You!</a:t>
            </a:r>
            <a:endParaRPr lang="en-US" sz="5200"/>
          </a:p>
        </p:txBody>
      </p:sp>
      <p:sp>
        <p:nvSpPr>
          <p:cNvPr id="6" name="Text 4"/>
          <p:cNvSpPr/>
          <p:nvPr/>
        </p:nvSpPr>
        <p:spPr>
          <a:xfrm>
            <a:off x="548640" y="2331720"/>
            <a:ext cx="5486400" cy="502920"/>
          </a:xfrm>
          <a:prstGeom prst="rect">
            <a:avLst/>
          </a:prstGeom>
          <a:noFill/>
          <a:ln/>
        </p:spPr>
        <p:txBody>
          <a:bodyPr wrap="square" rtlCol="0" anchor="ctr"/>
          <a:lstStyle/>
          <a:p>
            <a:pPr marL="0" indent="0">
              <a:buNone/>
            </a:pPr>
            <a:r>
              <a:rPr lang="en-US" sz="2200">
                <a:solidFill>
                  <a:srgbClr val="FFFFFF"/>
                </a:solidFill>
              </a:rPr>
              <a:t>Questions &amp; Discussion</a:t>
            </a:r>
          </a:p>
        </p:txBody>
      </p:sp>
      <p:sp>
        <p:nvSpPr>
          <p:cNvPr id="7" name="Shape 5"/>
          <p:cNvSpPr/>
          <p:nvPr/>
        </p:nvSpPr>
        <p:spPr>
          <a:xfrm>
            <a:off x="548640" y="2971800"/>
            <a:ext cx="3200400" cy="36576"/>
          </a:xfrm>
          <a:prstGeom prst="rect">
            <a:avLst/>
          </a:prstGeom>
          <a:solidFill>
            <a:srgbClr val="0D9488"/>
          </a:solidFill>
          <a:ln/>
        </p:spPr>
        <p:txBody>
          <a:bodyPr/>
          <a:lstStyle/>
          <a:p>
            <a:endParaRPr lang="en-US"/>
          </a:p>
        </p:txBody>
      </p:sp>
      <p:sp>
        <p:nvSpPr>
          <p:cNvPr id="8" name="Text 6"/>
          <p:cNvSpPr/>
          <p:nvPr/>
        </p:nvSpPr>
        <p:spPr>
          <a:xfrm>
            <a:off x="548640" y="3108960"/>
            <a:ext cx="7772400" cy="320040"/>
          </a:xfrm>
          <a:prstGeom prst="rect">
            <a:avLst/>
          </a:prstGeom>
          <a:noFill/>
          <a:ln/>
        </p:spPr>
        <p:txBody>
          <a:bodyPr wrap="square" lIns="91440" tIns="45720" rIns="91440" bIns="45720" rtlCol="0" anchor="ctr"/>
          <a:lstStyle/>
          <a:p>
            <a:pPr marL="0" indent="0">
              <a:buNone/>
            </a:pPr>
            <a:r>
              <a:rPr lang="en-US" sz="1200" b="1">
                <a:solidFill>
                  <a:srgbClr val="FFFFFF"/>
                </a:solidFill>
              </a:rPr>
              <a:t>GitHub</a:t>
            </a:r>
            <a:r>
              <a:rPr lang="en-US" sz="1200">
                <a:solidFill>
                  <a:srgbClr val="FFFFFF"/>
                </a:solidFill>
              </a:rPr>
              <a:t>: github.com/WCU-</a:t>
            </a:r>
            <a:r>
              <a:rPr lang="en-US" sz="1200" err="1">
                <a:solidFill>
                  <a:srgbClr val="FFFFFF"/>
                </a:solidFill>
              </a:rPr>
              <a:t>ProfitMatrix</a:t>
            </a:r>
            <a:r>
              <a:rPr lang="en-US" sz="1200">
                <a:solidFill>
                  <a:srgbClr val="FFFFFF"/>
                </a:solidFill>
              </a:rPr>
              <a:t> (3 repos: UI · API · ML)</a:t>
            </a:r>
          </a:p>
        </p:txBody>
      </p:sp>
      <p:sp>
        <p:nvSpPr>
          <p:cNvPr id="9" name="Text 7"/>
          <p:cNvSpPr/>
          <p:nvPr/>
        </p:nvSpPr>
        <p:spPr>
          <a:xfrm>
            <a:off x="548640" y="3474720"/>
            <a:ext cx="7772400" cy="320040"/>
          </a:xfrm>
          <a:prstGeom prst="rect">
            <a:avLst/>
          </a:prstGeom>
          <a:noFill/>
          <a:ln/>
        </p:spPr>
        <p:txBody>
          <a:bodyPr wrap="square" lIns="91440" tIns="45720" rIns="91440" bIns="45720" rtlCol="0" anchor="ctr"/>
          <a:lstStyle/>
          <a:p>
            <a:pPr marL="0" indent="0">
              <a:buNone/>
            </a:pPr>
            <a:r>
              <a:rPr lang="en-US" sz="1200" b="1">
                <a:solidFill>
                  <a:srgbClr val="FFFFFF"/>
                </a:solidFill>
              </a:rPr>
              <a:t>Platform</a:t>
            </a:r>
            <a:r>
              <a:rPr lang="en-US" sz="1200">
                <a:solidFill>
                  <a:srgbClr val="FFFFFF"/>
                </a:solidFill>
              </a:rPr>
              <a:t>: AWS Bedrock · SageMaker Studio · RDS PostgreSQL · React</a:t>
            </a:r>
          </a:p>
        </p:txBody>
      </p:sp>
      <p:sp>
        <p:nvSpPr>
          <p:cNvPr id="10" name="Text 8"/>
          <p:cNvSpPr/>
          <p:nvPr/>
        </p:nvSpPr>
        <p:spPr>
          <a:xfrm>
            <a:off x="548640" y="4480560"/>
            <a:ext cx="7772400" cy="320040"/>
          </a:xfrm>
          <a:prstGeom prst="rect">
            <a:avLst/>
          </a:prstGeom>
          <a:noFill/>
          <a:ln/>
        </p:spPr>
        <p:txBody>
          <a:bodyPr wrap="square" lIns="91440" tIns="45720" rIns="91440" bIns="45720" rtlCol="0" anchor="ctr"/>
          <a:lstStyle/>
          <a:p>
            <a:r>
              <a:rPr lang="en-US" sz="1100" b="1">
                <a:solidFill>
                  <a:schemeClr val="bg1"/>
                </a:solidFill>
              </a:rPr>
              <a:t>Team: Ali </a:t>
            </a:r>
            <a:r>
              <a:rPr lang="en-US" sz="1100" b="1" err="1">
                <a:solidFill>
                  <a:schemeClr val="bg1"/>
                </a:solidFill>
              </a:rPr>
              <a:t>Abdulrazzak</a:t>
            </a:r>
            <a:r>
              <a:rPr lang="en-US" sz="1100" b="1">
                <a:solidFill>
                  <a:schemeClr val="bg1"/>
                </a:solidFill>
              </a:rPr>
              <a:t> · Logan Yates · Dan Gannon · Ky-Khoa Nguyen · Alexander </a:t>
            </a:r>
            <a:r>
              <a:rPr lang="en-US" sz="1100" b="1" err="1">
                <a:solidFill>
                  <a:schemeClr val="bg1"/>
                </a:solidFill>
              </a:rPr>
              <a:t>Sepella</a:t>
            </a:r>
            <a:r>
              <a:rPr lang="en-US" sz="1100" b="1">
                <a:solidFill>
                  <a:schemeClr val="bg1"/>
                </a:solidFill>
              </a:rPr>
              <a:t> · Karan </a:t>
            </a:r>
            <a:r>
              <a:rPr lang="en-US" sz="1100" b="1" err="1">
                <a:solidFill>
                  <a:schemeClr val="bg1"/>
                </a:solidFill>
              </a:rPr>
              <a:t>Khamadi</a:t>
            </a:r>
            <a:r>
              <a:rPr lang="en-US" sz="1100" b="1">
                <a:solidFill>
                  <a:schemeClr val="bg1"/>
                </a:solidFill>
              </a:rPr>
              <a:t> </a:t>
            </a:r>
            <a:endParaRPr lang="en-US" sz="1100" b="1">
              <a:solidFill>
                <a:schemeClr val="bg1"/>
              </a:solidFill>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1470</Words>
  <Application>Microsoft Office PowerPoint</Application>
  <PresentationFormat>On-screen Show (16:9)</PresentationFormat>
  <Paragraphs>157</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WCU ProfitMatrix Midpoint Presentation</dc:title>
  <dc:subject>PptxGenJS Presentation</dc:subject>
  <dc:creator>PptxGenJS</dc:creator>
  <cp:lastModifiedBy>Logan Yates</cp:lastModifiedBy>
  <cp:revision>1</cp:revision>
  <dcterms:created xsi:type="dcterms:W3CDTF">2026-03-25T03:21:56Z</dcterms:created>
  <dcterms:modified xsi:type="dcterms:W3CDTF">2026-07-31T01:09:30Z</dcterms:modified>
</cp:coreProperties>
</file>